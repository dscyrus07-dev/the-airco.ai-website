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AiRCO company profile. AI Revolution Company Pvt Ltd, Mumbai. Enterprise AI and data intelligence.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Logos are trademarks of their respective owners.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EC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  ·  2026</a:t>
            </a:r>
            <a:endParaRPr lang="en-US" sz="1200" dirty="0"/>
          </a:p>
        </p:txBody>
      </p:sp>
      <p:pic>
        <p:nvPicPr>
          <p:cNvPr id="3" name="Image 0" descr="/home/claude/deck/assets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737360"/>
            <a:ext cx="5120640" cy="16967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3703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AI &amp; Data Intelligence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2976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turn video, audio, documents, text and conversations into one layer of structured, decision‑ready intelligence.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525780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2EC4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257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27001:2022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0" y="525780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2EC4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743200" y="52578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Compliant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525780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2EC4F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89120" y="5257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DPIIT Recognised Startup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29400" y="52578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2EC4F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629400" y="5257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(Udyam) Registered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Revolution Company Pvt Ltd   |   Mumbai, India   |   theairco.ai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raw data into intelligence</a:t>
            </a:r>
            <a:endParaRPr lang="en-US" sz="3000" dirty="0"/>
          </a:p>
        </p:txBody>
      </p:sp>
      <p:pic>
        <p:nvPicPr>
          <p:cNvPr id="4" name="Image 0" descr="/home/claude/deck/assets/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8615" y="438912"/>
            <a:ext cx="1234440" cy="40902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AiRCO  |  From Data to Intelligence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AiRCO — AI Revolution Company Pvt Ltd — is a Mumbai‑based data analytics company that transforms raw, unstructured data into meaningful, structured information.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combine artificial intelligence with advanced analytical techniques to convert complex, fragmented data into clear, actionable insight — so organisations can understand their data, uncover opportunities and make better decisions.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INTELLIGENCE LAYER ACROSS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4709160"/>
            <a:ext cx="1737360" cy="438912"/>
          </a:xfrm>
          <a:prstGeom prst="roundRect">
            <a:avLst>
              <a:gd name="adj" fmla="val 1666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81888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87552" y="470916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423160" y="4709160"/>
            <a:ext cx="1737360" cy="438912"/>
          </a:xfrm>
          <a:prstGeom prst="roundRect">
            <a:avLst>
              <a:gd name="adj" fmla="val 1666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4818888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862072" y="470916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297680" y="4709160"/>
            <a:ext cx="1737360" cy="438912"/>
          </a:xfrm>
          <a:prstGeom prst="roundRect">
            <a:avLst>
              <a:gd name="adj" fmla="val 1666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4818888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736592" y="470916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48640" y="5276088"/>
            <a:ext cx="1737360" cy="438912"/>
          </a:xfrm>
          <a:prstGeom prst="roundRect">
            <a:avLst>
              <a:gd name="adj" fmla="val 1666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385816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87552" y="527608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2423160" y="5276088"/>
            <a:ext cx="1737360" cy="438912"/>
          </a:xfrm>
          <a:prstGeom prst="roundRect">
            <a:avLst>
              <a:gd name="adj" fmla="val 1666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0" y="5385816"/>
            <a:ext cx="219456" cy="21945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2862072" y="527608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4297680" y="5276088"/>
            <a:ext cx="1737360" cy="438912"/>
          </a:xfrm>
          <a:prstGeom prst="roundRect">
            <a:avLst>
              <a:gd name="adj" fmla="val 1666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5385816"/>
            <a:ext cx="219456" cy="21945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4736592" y="527608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6720840" y="1691640"/>
            <a:ext cx="2377440" cy="2103120"/>
          </a:xfrm>
          <a:prstGeom prst="rect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6995160" y="1920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EC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4400" dirty="0"/>
          </a:p>
        </p:txBody>
      </p:sp>
      <p:sp>
        <p:nvSpPr>
          <p:cNvPr id="29" name="Text 20"/>
          <p:cNvSpPr txBox="1"/>
          <p:nvPr/>
        </p:nvSpPr>
        <p:spPr>
          <a:xfrm>
            <a:off x="699516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Incorporated</a:t>
            </a:r>
            <a:endParaRPr lang="en-US" sz="1400" dirty="0"/>
          </a:p>
        </p:txBody>
      </p:sp>
      <p:sp>
        <p:nvSpPr>
          <p:cNvPr id="30" name="Text 21"/>
          <p:cNvSpPr txBox="1"/>
          <p:nvPr/>
        </p:nvSpPr>
        <p:spPr>
          <a:xfrm>
            <a:off x="6995160" y="3063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January 2025, Mumbai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9281160" y="1691640"/>
            <a:ext cx="2377440" cy="210312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32" name="Text 23"/>
          <p:cNvSpPr txBox="1"/>
          <p:nvPr/>
        </p:nvSpPr>
        <p:spPr>
          <a:xfrm>
            <a:off x="9555480" y="1920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400" dirty="0"/>
          </a:p>
        </p:txBody>
      </p:sp>
      <p:sp>
        <p:nvSpPr>
          <p:cNvPr id="33" name="Text 24"/>
          <p:cNvSpPr txBox="1"/>
          <p:nvPr/>
        </p:nvSpPr>
        <p:spPr>
          <a:xfrm>
            <a:off x="955548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</a:t>
            </a:r>
            <a:endParaRPr lang="en-US" sz="1400" dirty="0"/>
          </a:p>
        </p:txBody>
      </p:sp>
      <p:sp>
        <p:nvSpPr>
          <p:cNvPr id="34" name="Text 25"/>
          <p:cNvSpPr txBox="1"/>
          <p:nvPr/>
        </p:nvSpPr>
        <p:spPr>
          <a:xfrm>
            <a:off x="9555480" y="3063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Video, audio, document, conversational, agents &amp; data centre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6720840" y="3977640"/>
            <a:ext cx="2377440" cy="210312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6995160" y="4206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400" dirty="0"/>
          </a:p>
        </p:txBody>
      </p:sp>
      <p:sp>
        <p:nvSpPr>
          <p:cNvPr id="37" name="Text 28"/>
          <p:cNvSpPr txBox="1"/>
          <p:nvPr/>
        </p:nvSpPr>
        <p:spPr>
          <a:xfrm>
            <a:off x="6995160" y="5029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modalities</a:t>
            </a:r>
            <a:endParaRPr lang="en-US" sz="1400" dirty="0"/>
          </a:p>
        </p:txBody>
      </p:sp>
      <p:sp>
        <p:nvSpPr>
          <p:cNvPr id="38" name="Text 29"/>
          <p:cNvSpPr txBox="1"/>
          <p:nvPr/>
        </p:nvSpPr>
        <p:spPr>
          <a:xfrm>
            <a:off x="6995160" y="5349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into a single intelligence layer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9281160" y="3977640"/>
            <a:ext cx="2377440" cy="2103120"/>
          </a:xfrm>
          <a:prstGeom prst="rect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9555480" y="4206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EC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400" dirty="0"/>
          </a:p>
        </p:txBody>
      </p:sp>
      <p:sp>
        <p:nvSpPr>
          <p:cNvPr id="41" name="Text 32"/>
          <p:cNvSpPr txBox="1"/>
          <p:nvPr/>
        </p:nvSpPr>
        <p:spPr>
          <a:xfrm>
            <a:off x="9555480" y="5029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</a:t>
            </a:r>
            <a:endParaRPr lang="en-US" sz="1400" dirty="0"/>
          </a:p>
        </p:txBody>
      </p:sp>
      <p:sp>
        <p:nvSpPr>
          <p:cNvPr id="42" name="Text 33"/>
          <p:cNvSpPr txBox="1"/>
          <p:nvPr/>
        </p:nvSpPr>
        <p:spPr>
          <a:xfrm>
            <a:off x="9555480" y="5349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27001, GDPR, DPIIT Startup India, MSME Udyam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real business problems</a:t>
            </a:r>
            <a:endParaRPr lang="en-US" sz="3000" dirty="0"/>
          </a:p>
        </p:txBody>
      </p:sp>
      <p:pic>
        <p:nvPicPr>
          <p:cNvPr id="4" name="Image 0" descr="/home/claude/deck/assets/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8615" y="438912"/>
            <a:ext cx="1234440" cy="40902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AiRCO  |  From Data to Intelligence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35204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011680"/>
            <a:ext cx="566928" cy="566928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361" y="215908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26700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much data, too little visibility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154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scattered across cameras, calls, documents and systems that don't talk to each other.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34256" y="1737360"/>
            <a:ext cx="35204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08576" y="2011680"/>
            <a:ext cx="566928" cy="566928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977" y="2159081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08576" y="26700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review doesn't scale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608576" y="3154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every statement, watching every feed or reviewing every call by hand takes time teams don't have.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119872" y="1737360"/>
            <a:ext cx="35204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94192" y="2011680"/>
            <a:ext cx="566928" cy="566928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1593" y="2159081"/>
            <a:ext cx="272125" cy="27212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394192" y="26700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can't watch everything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8394192" y="3154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threat shouldn't depend on someone looking at the right screen at the right moment.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48640" y="4023360"/>
            <a:ext cx="35204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22960" y="4297680"/>
            <a:ext cx="566928" cy="566928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361" y="4445081"/>
            <a:ext cx="272125" cy="27212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22960" y="49560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document review delays decisions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822960" y="5440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statements and tenders add days to processes that should take hours.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4334256" y="4023360"/>
            <a:ext cx="35204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608576" y="4297680"/>
            <a:ext cx="566928" cy="566928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5977" y="4445081"/>
            <a:ext cx="272125" cy="27212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4608576" y="49560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time spent on wrong leads</a:t>
            </a:r>
            <a:endParaRPr lang="en-US" sz="1400" dirty="0"/>
          </a:p>
        </p:txBody>
      </p:sp>
      <p:sp>
        <p:nvSpPr>
          <p:cNvPr id="31" name="Text 23"/>
          <p:cNvSpPr txBox="1"/>
          <p:nvPr/>
        </p:nvSpPr>
        <p:spPr>
          <a:xfrm>
            <a:off x="4608576" y="5440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goes to low‑intent prospects while high‑value opportunities wait.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8119872" y="4023360"/>
            <a:ext cx="35204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394192" y="4297680"/>
            <a:ext cx="566928" cy="566928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1593" y="4445081"/>
            <a:ext cx="272125" cy="272125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394192" y="49560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decisions carry risk</a:t>
            </a:r>
            <a:endParaRPr lang="en-US" sz="1400" dirty="0"/>
          </a:p>
        </p:txBody>
      </p:sp>
      <p:sp>
        <p:nvSpPr>
          <p:cNvPr id="36" name="Text 27"/>
          <p:cNvSpPr txBox="1"/>
          <p:nvPr/>
        </p:nvSpPr>
        <p:spPr>
          <a:xfrm>
            <a:off x="8394192" y="5440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centre choices are expensive to get wrong without structured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data to action</a:t>
            </a:r>
            <a:endParaRPr lang="en-US" sz="3000" dirty="0"/>
          </a:p>
        </p:txBody>
      </p:sp>
      <p:pic>
        <p:nvPicPr>
          <p:cNvPr id="4" name="Image 0" descr="/home/claude/deck/assets/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8615" y="438912"/>
            <a:ext cx="1234440" cy="40902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AiRCO  |  From Data to Intelligence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AiRCO structures the chaos. Fragmented inputs become a single intelligence layer your teams can act 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286000"/>
            <a:ext cx="2011680" cy="356616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1783080" y="2487168"/>
            <a:ext cx="548640" cy="548640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726" y="2629814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7240" y="3474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397764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feeds, calls, documents, text, email and system data — as it arrives.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2819324" y="2286000"/>
            <a:ext cx="2011680" cy="356616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047924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4053764" y="2487168"/>
            <a:ext cx="548640" cy="548640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410" y="2629814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047924" y="3474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3047924" y="397764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vision, speech &amp; NLP and document extraction structure every input.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090008" y="2286000"/>
            <a:ext cx="2011680" cy="356616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318608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6324448" y="2487168"/>
            <a:ext cx="548640" cy="548640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094" y="2629814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318608" y="3474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5318608" y="397764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are correlated across sources into one shared context.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7360691" y="2286000"/>
            <a:ext cx="2011680" cy="356616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589291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8" name="Shape 22"/>
          <p:cNvSpPr/>
          <p:nvPr/>
        </p:nvSpPr>
        <p:spPr>
          <a:xfrm>
            <a:off x="8595131" y="2487168"/>
            <a:ext cx="548640" cy="548640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7778" y="2629814"/>
            <a:ext cx="263347" cy="263347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589291" y="3474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7589291" y="397764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Patterns, profiles, risks and opportunities surface automatically.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9631375" y="2286000"/>
            <a:ext cx="2011680" cy="3566160"/>
          </a:xfrm>
          <a:prstGeom prst="rect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9859975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34" name="Shape 27"/>
          <p:cNvSpPr/>
          <p:nvPr/>
        </p:nvSpPr>
        <p:spPr>
          <a:xfrm>
            <a:off x="10865815" y="2487168"/>
            <a:ext cx="548640" cy="548640"/>
          </a:xfrm>
          <a:prstGeom prst="ellipse">
            <a:avLst/>
          </a:prstGeom>
          <a:solidFill>
            <a:srgbClr val="2EC4F1"/>
          </a:solidFill>
          <a:ln w="12700">
            <a:solidFill>
              <a:srgbClr val="2EC4F1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08462" y="2629814"/>
            <a:ext cx="263347" cy="263347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859975" y="3474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700" dirty="0"/>
          </a:p>
        </p:txBody>
      </p:sp>
      <p:sp>
        <p:nvSpPr>
          <p:cNvPr id="37" name="Text 29"/>
          <p:cNvSpPr txBox="1"/>
          <p:nvPr/>
        </p:nvSpPr>
        <p:spPr>
          <a:xfrm>
            <a:off x="9859975" y="397764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Real‑time alerts, qualified leads, compliance checks and decisions.</a:t>
            </a:r>
            <a:endParaRPr lang="en-US" sz="1250" dirty="0"/>
          </a:p>
        </p:txBody>
      </p:sp>
      <p:sp>
        <p:nvSpPr>
          <p:cNvPr id="38" name="Shape 30"/>
          <p:cNvSpPr/>
          <p:nvPr/>
        </p:nvSpPr>
        <p:spPr>
          <a:xfrm>
            <a:off x="2570950" y="3931920"/>
            <a:ext cx="237744" cy="310896"/>
          </a:xfrm>
          <a:prstGeom prst="chevron">
            <a:avLst/>
          </a:prstGeom>
          <a:solidFill>
            <a:srgbClr val="0A78B8"/>
          </a:solidFill>
          <a:ln w="12700">
            <a:solidFill>
              <a:srgbClr val="0A78B8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4841634" y="3931920"/>
            <a:ext cx="237744" cy="310896"/>
          </a:xfrm>
          <a:prstGeom prst="chevron">
            <a:avLst/>
          </a:prstGeom>
          <a:solidFill>
            <a:srgbClr val="0A78B8"/>
          </a:solidFill>
          <a:ln w="12700">
            <a:solidFill>
              <a:srgbClr val="0A78B8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7112318" y="3931920"/>
            <a:ext cx="237744" cy="310896"/>
          </a:xfrm>
          <a:prstGeom prst="chevron">
            <a:avLst/>
          </a:prstGeom>
          <a:solidFill>
            <a:srgbClr val="0A78B8"/>
          </a:solidFill>
          <a:ln w="12700">
            <a:solidFill>
              <a:srgbClr val="0A78B8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9383001" y="3931920"/>
            <a:ext cx="237744" cy="310896"/>
          </a:xfrm>
          <a:prstGeom prst="chevron">
            <a:avLst/>
          </a:prstGeom>
          <a:solidFill>
            <a:srgbClr val="0A78B8"/>
          </a:solidFill>
          <a:ln w="12700">
            <a:solidFill>
              <a:srgbClr val="0A78B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your data becomes intelligence</a:t>
            </a:r>
            <a:endParaRPr lang="en-US" sz="3000" dirty="0"/>
          </a:p>
        </p:txBody>
      </p:sp>
      <p:pic>
        <p:nvPicPr>
          <p:cNvPr id="4" name="Image 0" descr="/home/claude/deck/assets/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8615" y="438912"/>
            <a:ext cx="1234440" cy="40902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AiRCO  |  From Data to Intelligence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292608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296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2439162"/>
            <a:ext cx="402336" cy="402336"/>
          </a:xfrm>
          <a:prstGeom prst="ellipse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67" y="2543769"/>
            <a:ext cx="193121" cy="1931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331720"/>
            <a:ext cx="19202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feeds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22960" y="3056382"/>
            <a:ext cx="402336" cy="402336"/>
          </a:xfrm>
          <a:prstGeom prst="ellipse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67" y="3160989"/>
            <a:ext cx="193121" cy="19312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2948940"/>
            <a:ext cx="19202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&amp; audio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822960" y="3673602"/>
            <a:ext cx="402336" cy="402336"/>
          </a:xfrm>
          <a:prstGeom prst="ellipse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567" y="3778209"/>
            <a:ext cx="193121" cy="19312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71600" y="3566160"/>
            <a:ext cx="19202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822960" y="4290822"/>
            <a:ext cx="402336" cy="402336"/>
          </a:xfrm>
          <a:prstGeom prst="ellipse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567" y="4395429"/>
            <a:ext cx="193121" cy="193121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371600" y="4183380"/>
            <a:ext cx="19202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email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822960" y="4908042"/>
            <a:ext cx="402336" cy="402336"/>
          </a:xfrm>
          <a:prstGeom prst="ellipse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567" y="5012649"/>
            <a:ext cx="193121" cy="193121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371600" y="4800600"/>
            <a:ext cx="19202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822960" y="5525262"/>
            <a:ext cx="402336" cy="402336"/>
          </a:xfrm>
          <a:prstGeom prst="ellipse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567" y="5629869"/>
            <a:ext cx="193121" cy="193121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371600" y="5417820"/>
            <a:ext cx="19202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data</a:t>
            </a:r>
            <a:endParaRPr lang="en-US" sz="1400" dirty="0"/>
          </a:p>
        </p:txBody>
      </p:sp>
      <p:sp>
        <p:nvSpPr>
          <p:cNvPr id="27" name="Shape 18"/>
          <p:cNvSpPr/>
          <p:nvPr/>
        </p:nvSpPr>
        <p:spPr>
          <a:xfrm>
            <a:off x="8716975" y="1691640"/>
            <a:ext cx="292608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8" name="Text 19"/>
          <p:cNvSpPr txBox="1"/>
          <p:nvPr/>
        </p:nvSpPr>
        <p:spPr>
          <a:xfrm>
            <a:off x="8991295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DECISION‑READY OUTPUT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8991295" y="2500884"/>
            <a:ext cx="402336" cy="402336"/>
          </a:xfrm>
          <a:prstGeom prst="ellipse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5903" y="2605491"/>
            <a:ext cx="193121" cy="193121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9539935" y="2331720"/>
            <a:ext cx="19202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Real‑time alerts</a:t>
            </a:r>
            <a:endParaRPr lang="en-US" sz="1400" dirty="0"/>
          </a:p>
        </p:txBody>
      </p:sp>
      <p:sp>
        <p:nvSpPr>
          <p:cNvPr id="32" name="Shape 22"/>
          <p:cNvSpPr/>
          <p:nvPr/>
        </p:nvSpPr>
        <p:spPr>
          <a:xfrm>
            <a:off x="8991295" y="3241548"/>
            <a:ext cx="402336" cy="402336"/>
          </a:xfrm>
          <a:prstGeom prst="ellipse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5903" y="3346155"/>
            <a:ext cx="193121" cy="193121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9539935" y="3072384"/>
            <a:ext cx="19202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profiles</a:t>
            </a:r>
            <a:endParaRPr lang="en-US" sz="1400" dirty="0"/>
          </a:p>
        </p:txBody>
      </p:sp>
      <p:sp>
        <p:nvSpPr>
          <p:cNvPr id="35" name="Shape 24"/>
          <p:cNvSpPr/>
          <p:nvPr/>
        </p:nvSpPr>
        <p:spPr>
          <a:xfrm>
            <a:off x="8991295" y="3982212"/>
            <a:ext cx="402336" cy="402336"/>
          </a:xfrm>
          <a:prstGeom prst="ellipse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95903" y="4086819"/>
            <a:ext cx="193121" cy="193121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9539935" y="3813048"/>
            <a:ext cx="19202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leads</a:t>
            </a:r>
            <a:endParaRPr lang="en-US" sz="1400" dirty="0"/>
          </a:p>
        </p:txBody>
      </p:sp>
      <p:sp>
        <p:nvSpPr>
          <p:cNvPr id="38" name="Shape 26"/>
          <p:cNvSpPr/>
          <p:nvPr/>
        </p:nvSpPr>
        <p:spPr>
          <a:xfrm>
            <a:off x="8991295" y="4722876"/>
            <a:ext cx="402336" cy="402336"/>
          </a:xfrm>
          <a:prstGeom prst="ellipse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95903" y="4827483"/>
            <a:ext cx="193121" cy="193121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9539935" y="4553712"/>
            <a:ext cx="19202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checks</a:t>
            </a:r>
            <a:endParaRPr lang="en-US" sz="1400" dirty="0"/>
          </a:p>
        </p:txBody>
      </p:sp>
      <p:sp>
        <p:nvSpPr>
          <p:cNvPr id="41" name="Shape 28"/>
          <p:cNvSpPr/>
          <p:nvPr/>
        </p:nvSpPr>
        <p:spPr>
          <a:xfrm>
            <a:off x="8991295" y="5463540"/>
            <a:ext cx="402336" cy="402336"/>
          </a:xfrm>
          <a:prstGeom prst="ellipse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95903" y="5568147"/>
            <a:ext cx="193121" cy="193121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9539935" y="5294376"/>
            <a:ext cx="19202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monitoring</a:t>
            </a:r>
            <a:endParaRPr lang="en-US" sz="1400" dirty="0"/>
          </a:p>
        </p:txBody>
      </p:sp>
      <p:sp>
        <p:nvSpPr>
          <p:cNvPr id="44" name="Shape 30"/>
          <p:cNvSpPr/>
          <p:nvPr/>
        </p:nvSpPr>
        <p:spPr>
          <a:xfrm>
            <a:off x="4114800" y="1691640"/>
            <a:ext cx="3962095" cy="4434840"/>
          </a:xfrm>
          <a:prstGeom prst="rect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sp>
        <p:nvSpPr>
          <p:cNvPr id="45" name="Text 31"/>
          <p:cNvSpPr txBox="1"/>
          <p:nvPr/>
        </p:nvSpPr>
        <p:spPr>
          <a:xfrm>
            <a:off x="4114800" y="1920240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EC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AIRCO INTELLIGENCE LAYER</a:t>
            </a:r>
            <a:endParaRPr lang="en-US" sz="1100" dirty="0"/>
          </a:p>
        </p:txBody>
      </p:sp>
      <p:sp>
        <p:nvSpPr>
          <p:cNvPr id="46" name="Shape 32"/>
          <p:cNvSpPr/>
          <p:nvPr/>
        </p:nvSpPr>
        <p:spPr>
          <a:xfrm>
            <a:off x="4389120" y="2377440"/>
            <a:ext cx="1615288" cy="1188720"/>
          </a:xfrm>
          <a:prstGeom prst="rect">
            <a:avLst/>
          </a:prstGeom>
          <a:solidFill>
            <a:srgbClr val="0A3A7A"/>
          </a:solidFill>
          <a:ln w="9525">
            <a:solidFill>
              <a:srgbClr val="1D5096"/>
            </a:solidFill>
            <a:prstDash val="solid"/>
          </a:ln>
        </p:spPr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13884" y="2578608"/>
            <a:ext cx="365760" cy="365760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4480560" y="3035808"/>
            <a:ext cx="1432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300" dirty="0"/>
          </a:p>
        </p:txBody>
      </p:sp>
      <p:sp>
        <p:nvSpPr>
          <p:cNvPr id="49" name="Shape 34"/>
          <p:cNvSpPr/>
          <p:nvPr/>
        </p:nvSpPr>
        <p:spPr>
          <a:xfrm>
            <a:off x="6187288" y="2377440"/>
            <a:ext cx="1615288" cy="1188720"/>
          </a:xfrm>
          <a:prstGeom prst="rect">
            <a:avLst/>
          </a:prstGeom>
          <a:solidFill>
            <a:srgbClr val="0A3A7A"/>
          </a:solidFill>
          <a:ln w="9525">
            <a:solidFill>
              <a:srgbClr val="1D5096"/>
            </a:solidFill>
            <a:prstDash val="solid"/>
          </a:ln>
        </p:spPr>
      </p:sp>
      <p:pic>
        <p:nvPicPr>
          <p:cNvPr id="5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12051" y="2578608"/>
            <a:ext cx="365760" cy="365760"/>
          </a:xfrm>
          <a:prstGeom prst="rect">
            <a:avLst/>
          </a:prstGeom>
        </p:spPr>
      </p:pic>
      <p:sp>
        <p:nvSpPr>
          <p:cNvPr id="51" name="Text 35"/>
          <p:cNvSpPr txBox="1"/>
          <p:nvPr/>
        </p:nvSpPr>
        <p:spPr>
          <a:xfrm>
            <a:off x="6278728" y="3035808"/>
            <a:ext cx="1432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&amp; NLP</a:t>
            </a:r>
            <a:endParaRPr lang="en-US" sz="1300" dirty="0"/>
          </a:p>
        </p:txBody>
      </p:sp>
      <p:sp>
        <p:nvSpPr>
          <p:cNvPr id="52" name="Shape 36"/>
          <p:cNvSpPr/>
          <p:nvPr/>
        </p:nvSpPr>
        <p:spPr>
          <a:xfrm>
            <a:off x="4389120" y="3749040"/>
            <a:ext cx="1615288" cy="1188720"/>
          </a:xfrm>
          <a:prstGeom prst="rect">
            <a:avLst/>
          </a:prstGeom>
          <a:solidFill>
            <a:srgbClr val="0A3A7A"/>
          </a:solidFill>
          <a:ln w="9525">
            <a:solidFill>
              <a:srgbClr val="1D5096"/>
            </a:solidFill>
            <a:prstDash val="solid"/>
          </a:ln>
        </p:spPr>
      </p:sp>
      <p:pic>
        <p:nvPicPr>
          <p:cNvPr id="5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13884" y="3950208"/>
            <a:ext cx="365760" cy="365760"/>
          </a:xfrm>
          <a:prstGeom prst="rect">
            <a:avLst/>
          </a:prstGeom>
        </p:spPr>
      </p:pic>
      <p:sp>
        <p:nvSpPr>
          <p:cNvPr id="54" name="Text 37"/>
          <p:cNvSpPr txBox="1"/>
          <p:nvPr/>
        </p:nvSpPr>
        <p:spPr>
          <a:xfrm>
            <a:off x="4480560" y="4407408"/>
            <a:ext cx="1432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Extraction</a:t>
            </a:r>
            <a:endParaRPr lang="en-US" sz="1300" dirty="0"/>
          </a:p>
        </p:txBody>
      </p:sp>
      <p:sp>
        <p:nvSpPr>
          <p:cNvPr id="55" name="Shape 38"/>
          <p:cNvSpPr/>
          <p:nvPr/>
        </p:nvSpPr>
        <p:spPr>
          <a:xfrm>
            <a:off x="6187288" y="3749040"/>
            <a:ext cx="1615288" cy="1188720"/>
          </a:xfrm>
          <a:prstGeom prst="rect">
            <a:avLst/>
          </a:prstGeom>
          <a:solidFill>
            <a:srgbClr val="0A3A7A"/>
          </a:solidFill>
          <a:ln w="9525">
            <a:solidFill>
              <a:srgbClr val="1D5096"/>
            </a:solidFill>
            <a:prstDash val="solid"/>
          </a:ln>
        </p:spPr>
      </p:sp>
      <p:pic>
        <p:nvPicPr>
          <p:cNvPr id="5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12051" y="3950208"/>
            <a:ext cx="365760" cy="365760"/>
          </a:xfrm>
          <a:prstGeom prst="rect">
            <a:avLst/>
          </a:prstGeom>
        </p:spPr>
      </p:pic>
      <p:sp>
        <p:nvSpPr>
          <p:cNvPr id="57" name="Text 39"/>
          <p:cNvSpPr txBox="1"/>
          <p:nvPr/>
        </p:nvSpPr>
        <p:spPr>
          <a:xfrm>
            <a:off x="6278728" y="4407408"/>
            <a:ext cx="1432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Context</a:t>
            </a:r>
            <a:endParaRPr lang="en-US" sz="1300" dirty="0"/>
          </a:p>
        </p:txBody>
      </p:sp>
      <p:sp>
        <p:nvSpPr>
          <p:cNvPr id="58" name="Shape 40"/>
          <p:cNvSpPr/>
          <p:nvPr/>
        </p:nvSpPr>
        <p:spPr>
          <a:xfrm>
            <a:off x="4389120" y="4983480"/>
            <a:ext cx="3413455" cy="822960"/>
          </a:xfrm>
          <a:prstGeom prst="roundRect">
            <a:avLst>
              <a:gd name="adj" fmla="val 11111"/>
            </a:avLst>
          </a:prstGeom>
          <a:solidFill>
            <a:srgbClr val="2EC4F1"/>
          </a:solidFill>
          <a:ln w="12700">
            <a:solidFill>
              <a:srgbClr val="2EC4F1"/>
            </a:solidFill>
            <a:prstDash val="solid"/>
          </a:ln>
        </p:spPr>
      </p:sp>
      <p:sp>
        <p:nvSpPr>
          <p:cNvPr id="59" name="Text 41"/>
          <p:cNvSpPr txBox="1"/>
          <p:nvPr/>
        </p:nvSpPr>
        <p:spPr>
          <a:xfrm>
            <a:off x="4389120" y="4983480"/>
            <a:ext cx="34134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CONTEXT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32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type correlated into a single view</a:t>
            </a:r>
            <a:endParaRPr lang="en-US" sz="1600" dirty="0"/>
          </a:p>
        </p:txBody>
      </p:sp>
      <p:sp>
        <p:nvSpPr>
          <p:cNvPr id="60" name="Shape 42"/>
          <p:cNvSpPr/>
          <p:nvPr/>
        </p:nvSpPr>
        <p:spPr>
          <a:xfrm>
            <a:off x="3639312" y="3680460"/>
            <a:ext cx="310896" cy="457200"/>
          </a:xfrm>
          <a:prstGeom prst="rightArrow">
            <a:avLst/>
          </a:prstGeom>
          <a:solidFill>
            <a:srgbClr val="0A78B8"/>
          </a:solidFill>
          <a:ln w="12700">
            <a:solidFill>
              <a:srgbClr val="0A78B8"/>
            </a:solidFill>
            <a:prstDash val="solid"/>
          </a:ln>
        </p:spPr>
      </p:sp>
      <p:sp>
        <p:nvSpPr>
          <p:cNvPr id="61" name="Shape 43"/>
          <p:cNvSpPr/>
          <p:nvPr/>
        </p:nvSpPr>
        <p:spPr>
          <a:xfrm>
            <a:off x="8241487" y="3680460"/>
            <a:ext cx="310896" cy="457200"/>
          </a:xfrm>
          <a:prstGeom prst="rightArrow">
            <a:avLst/>
          </a:prstGeom>
          <a:solidFill>
            <a:srgbClr val="0A78B8"/>
          </a:solidFill>
          <a:ln w="12700">
            <a:solidFill>
              <a:srgbClr val="0A78B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deliver for partners and enterprises</a:t>
            </a:r>
            <a:endParaRPr lang="en-US" sz="3000" dirty="0"/>
          </a:p>
        </p:txBody>
      </p:sp>
      <p:pic>
        <p:nvPicPr>
          <p:cNvPr id="4" name="Image 0" descr="/home/claude/deck/assets/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8615" y="438912"/>
            <a:ext cx="1234440" cy="40902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AiRCO  |  From Data to Intelligence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703320" cy="205740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2108606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19659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Analytics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67919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 analytics built to meet the compliance, ruggedness and scale requirements of demanding sectors — turning cameras into an active layer of protection and insight.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480560" y="1691640"/>
            <a:ext cx="3703320" cy="205740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754880" y="1965960"/>
            <a:ext cx="548640" cy="548640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526" y="210860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40680" y="19659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Geospatial Intelligence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4754880" y="267919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Mapping, analysis and intelligence layers that convert raw imagery and data into actionable insight for government and enterprise use cases.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3977640"/>
            <a:ext cx="3703320" cy="205740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4394606"/>
            <a:ext cx="263347" cy="26334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508760" y="42519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Software Development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822960" y="496519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End‑to‑end custom platforms, adaptable to partner and end‑customer requirements — from integration to full product builds.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480560" y="3977640"/>
            <a:ext cx="3703320" cy="205740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754880" y="4251960"/>
            <a:ext cx="548640" cy="548640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7526" y="4394606"/>
            <a:ext cx="263347" cy="263347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440680" y="42519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Teams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4754880" y="496519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resources for every partnership, ensuring consistent ownership and fast turnaround rather than shared support.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503920" y="1691640"/>
            <a:ext cx="3139135" cy="4343400"/>
          </a:xfrm>
          <a:prstGeom prst="rect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8823960" y="1965960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ANALYTICS DEPLOYED ACROSS</a:t>
            </a:r>
            <a:endParaRPr lang="en-US" sz="11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0" y="2651760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326880" y="2560320"/>
            <a:ext cx="2133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</a:t>
            </a:r>
            <a:endParaRPr lang="en-US" sz="15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0" y="3200400"/>
            <a:ext cx="274320" cy="27432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326880" y="3108960"/>
            <a:ext cx="2133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5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0" y="3749040"/>
            <a:ext cx="274320" cy="27432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326880" y="3657600"/>
            <a:ext cx="2133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PSUs</a:t>
            </a:r>
            <a:endParaRPr lang="en-US" sz="15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9680" y="4297680"/>
            <a:ext cx="274320" cy="27432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9326880" y="4206240"/>
            <a:ext cx="2133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</a:t>
            </a:r>
            <a:endParaRPr lang="en-US" sz="150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69680" y="4846320"/>
            <a:ext cx="274320" cy="274320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9326880" y="4754880"/>
            <a:ext cx="2133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Mines</a:t>
            </a:r>
            <a:endParaRPr lang="en-US" sz="15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69680" y="5394960"/>
            <a:ext cx="274320" cy="274320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9326880" y="5303520"/>
            <a:ext cx="2133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Management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solutions. One intelligence layer.</a:t>
            </a:r>
            <a:endParaRPr lang="en-US" sz="3000" dirty="0"/>
          </a:p>
        </p:txBody>
      </p:sp>
      <p:pic>
        <p:nvPicPr>
          <p:cNvPr id="4" name="Image 0" descr="/home/claude/deck/assets/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8615" y="438912"/>
            <a:ext cx="1234440" cy="40902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AiRCO  |  From Data to Intelligence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2057949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1168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49808" y="2468880"/>
            <a:ext cx="1692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850" dirty="0"/>
          </a:p>
        </p:txBody>
      </p:sp>
      <p:sp>
        <p:nvSpPr>
          <p:cNvPr id="11" name="Text 7"/>
          <p:cNvSpPr txBox="1"/>
          <p:nvPr/>
        </p:nvSpPr>
        <p:spPr>
          <a:xfrm>
            <a:off x="749808" y="2697480"/>
            <a:ext cx="16921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Airco Secure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3035808"/>
            <a:ext cx="16921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AI‑powered surveillance that turns cameras into an active layer of protection.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807757" y="1691640"/>
            <a:ext cx="2057949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008925" y="1892808"/>
            <a:ext cx="457200" cy="457200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797" y="2011680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08925" y="2468880"/>
            <a:ext cx="1692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850" dirty="0"/>
          </a:p>
        </p:txBody>
      </p:sp>
      <p:sp>
        <p:nvSpPr>
          <p:cNvPr id="17" name="Text 12"/>
          <p:cNvSpPr txBox="1"/>
          <p:nvPr/>
        </p:nvSpPr>
        <p:spPr>
          <a:xfrm>
            <a:off x="3008925" y="2697480"/>
            <a:ext cx="16921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Airco VMS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3008925" y="3035808"/>
            <a:ext cx="16921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video management that scales from one facility to multi‑site networks.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66873" y="1691640"/>
            <a:ext cx="2057949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268041" y="1892808"/>
            <a:ext cx="457200" cy="457200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6913" y="201168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268041" y="2468880"/>
            <a:ext cx="1692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</a:t>
            </a:r>
            <a:endParaRPr lang="en-US" sz="850" dirty="0"/>
          </a:p>
        </p:txBody>
      </p:sp>
      <p:sp>
        <p:nvSpPr>
          <p:cNvPr id="23" name="Text 17"/>
          <p:cNvSpPr txBox="1"/>
          <p:nvPr/>
        </p:nvSpPr>
        <p:spPr>
          <a:xfrm>
            <a:off x="5268041" y="2697480"/>
            <a:ext cx="16921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Airco Geetika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5268041" y="3035808"/>
            <a:ext cx="16921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and sound intelligence that converts audio into structured data.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325990" y="1691640"/>
            <a:ext cx="2057949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527158" y="1892808"/>
            <a:ext cx="457200" cy="457200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6030" y="2011680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527158" y="2468880"/>
            <a:ext cx="1692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850" dirty="0"/>
          </a:p>
        </p:txBody>
      </p:sp>
      <p:sp>
        <p:nvSpPr>
          <p:cNvPr id="29" name="Text 22"/>
          <p:cNvSpPr txBox="1"/>
          <p:nvPr/>
        </p:nvSpPr>
        <p:spPr>
          <a:xfrm>
            <a:off x="7527158" y="2697480"/>
            <a:ext cx="16921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Airco Insights</a:t>
            </a:r>
            <a:endParaRPr lang="en-US" sz="1350" dirty="0"/>
          </a:p>
        </p:txBody>
      </p:sp>
      <p:sp>
        <p:nvSpPr>
          <p:cNvPr id="30" name="Text 23"/>
          <p:cNvSpPr txBox="1"/>
          <p:nvPr/>
        </p:nvSpPr>
        <p:spPr>
          <a:xfrm>
            <a:off x="7527158" y="3035808"/>
            <a:ext cx="16921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bank statement analysis into a decision‑ready financial profile.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9585107" y="1691640"/>
            <a:ext cx="2057949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9786275" y="1892808"/>
            <a:ext cx="457200" cy="457200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5147" y="2011680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786275" y="2468880"/>
            <a:ext cx="1692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850" dirty="0"/>
          </a:p>
        </p:txBody>
      </p:sp>
      <p:sp>
        <p:nvSpPr>
          <p:cNvPr id="35" name="Text 27"/>
          <p:cNvSpPr txBox="1"/>
          <p:nvPr/>
        </p:nvSpPr>
        <p:spPr>
          <a:xfrm>
            <a:off x="9786275" y="2697480"/>
            <a:ext cx="16921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Airco Tendermate</a:t>
            </a:r>
            <a:endParaRPr lang="en-US" sz="1350" dirty="0"/>
          </a:p>
        </p:txBody>
      </p:sp>
      <p:sp>
        <p:nvSpPr>
          <p:cNvPr id="36" name="Text 28"/>
          <p:cNvSpPr txBox="1"/>
          <p:nvPr/>
        </p:nvSpPr>
        <p:spPr>
          <a:xfrm>
            <a:off x="9786275" y="3035808"/>
            <a:ext cx="16921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tenders, checks compliance and helps draft stronger, faster bids.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548640" y="4041648"/>
            <a:ext cx="2057949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749808" y="4242816"/>
            <a:ext cx="457200" cy="457200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361688"/>
            <a:ext cx="219456" cy="219456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749808" y="4818888"/>
            <a:ext cx="1692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</a:t>
            </a:r>
            <a:endParaRPr lang="en-US" sz="850" dirty="0"/>
          </a:p>
        </p:txBody>
      </p:sp>
      <p:sp>
        <p:nvSpPr>
          <p:cNvPr id="41" name="Text 32"/>
          <p:cNvSpPr txBox="1"/>
          <p:nvPr/>
        </p:nvSpPr>
        <p:spPr>
          <a:xfrm>
            <a:off x="749808" y="5047488"/>
            <a:ext cx="16921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Airco Chatbot</a:t>
            </a:r>
            <a:endParaRPr lang="en-US" sz="1350" dirty="0"/>
          </a:p>
        </p:txBody>
      </p:sp>
      <p:sp>
        <p:nvSpPr>
          <p:cNvPr id="42" name="Text 33"/>
          <p:cNvSpPr txBox="1"/>
          <p:nvPr/>
        </p:nvSpPr>
        <p:spPr>
          <a:xfrm>
            <a:off x="749808" y="5385816"/>
            <a:ext cx="16921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AI assistant for queries, support and lead capture across channels.</a:t>
            </a:r>
            <a:endParaRPr lang="en-US" sz="1100" dirty="0"/>
          </a:p>
        </p:txBody>
      </p:sp>
      <p:sp>
        <p:nvSpPr>
          <p:cNvPr id="43" name="Shape 34"/>
          <p:cNvSpPr/>
          <p:nvPr/>
        </p:nvSpPr>
        <p:spPr>
          <a:xfrm>
            <a:off x="2807757" y="4041648"/>
            <a:ext cx="2057949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3008925" y="4242816"/>
            <a:ext cx="457200" cy="457200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7797" y="4361688"/>
            <a:ext cx="219456" cy="219456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3008925" y="4818888"/>
            <a:ext cx="1692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</a:t>
            </a:r>
            <a:endParaRPr lang="en-US" sz="850" dirty="0"/>
          </a:p>
        </p:txBody>
      </p:sp>
      <p:sp>
        <p:nvSpPr>
          <p:cNvPr id="47" name="Text 37"/>
          <p:cNvSpPr txBox="1"/>
          <p:nvPr/>
        </p:nvSpPr>
        <p:spPr>
          <a:xfrm>
            <a:off x="3008925" y="5047488"/>
            <a:ext cx="16921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Airco LeadGen</a:t>
            </a:r>
            <a:endParaRPr lang="en-US" sz="1350" dirty="0"/>
          </a:p>
        </p:txBody>
      </p:sp>
      <p:sp>
        <p:nvSpPr>
          <p:cNvPr id="48" name="Text 38"/>
          <p:cNvSpPr txBox="1"/>
          <p:nvPr/>
        </p:nvSpPr>
        <p:spPr>
          <a:xfrm>
            <a:off x="3008925" y="5385816"/>
            <a:ext cx="16921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 that identifies, qualifies and engages prospects.</a:t>
            </a:r>
            <a:endParaRPr lang="en-US" sz="1100" dirty="0"/>
          </a:p>
        </p:txBody>
      </p:sp>
      <p:sp>
        <p:nvSpPr>
          <p:cNvPr id="49" name="Shape 39"/>
          <p:cNvSpPr/>
          <p:nvPr/>
        </p:nvSpPr>
        <p:spPr>
          <a:xfrm>
            <a:off x="5066873" y="4041648"/>
            <a:ext cx="2057949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5268041" y="4242816"/>
            <a:ext cx="457200" cy="457200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6913" y="4361688"/>
            <a:ext cx="219456" cy="219456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5268041" y="4818888"/>
            <a:ext cx="1692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CENTRE</a:t>
            </a:r>
            <a:endParaRPr lang="en-US" sz="850" dirty="0"/>
          </a:p>
        </p:txBody>
      </p:sp>
      <p:sp>
        <p:nvSpPr>
          <p:cNvPr id="53" name="Text 42"/>
          <p:cNvSpPr txBox="1"/>
          <p:nvPr/>
        </p:nvSpPr>
        <p:spPr>
          <a:xfrm>
            <a:off x="5268041" y="5047488"/>
            <a:ext cx="16921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Consultation</a:t>
            </a:r>
            <a:endParaRPr lang="en-US" sz="1350" dirty="0"/>
          </a:p>
        </p:txBody>
      </p:sp>
      <p:sp>
        <p:nvSpPr>
          <p:cNvPr id="54" name="Text 43"/>
          <p:cNvSpPr txBox="1"/>
          <p:nvPr/>
        </p:nvSpPr>
        <p:spPr>
          <a:xfrm>
            <a:off x="5268041" y="5385816"/>
            <a:ext cx="16921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design and optimisation of data centre infrastructure.</a:t>
            </a:r>
            <a:endParaRPr lang="en-US" sz="1100" dirty="0"/>
          </a:p>
        </p:txBody>
      </p:sp>
      <p:sp>
        <p:nvSpPr>
          <p:cNvPr id="55" name="Shape 44"/>
          <p:cNvSpPr/>
          <p:nvPr/>
        </p:nvSpPr>
        <p:spPr>
          <a:xfrm>
            <a:off x="7325990" y="4041648"/>
            <a:ext cx="2057949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56" name="Shape 45"/>
          <p:cNvSpPr/>
          <p:nvPr/>
        </p:nvSpPr>
        <p:spPr>
          <a:xfrm>
            <a:off x="7527158" y="4242816"/>
            <a:ext cx="457200" cy="457200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46030" y="4361688"/>
            <a:ext cx="219456" cy="219456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7527158" y="4818888"/>
            <a:ext cx="1692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CENTRE</a:t>
            </a:r>
            <a:endParaRPr lang="en-US" sz="850" dirty="0"/>
          </a:p>
        </p:txBody>
      </p:sp>
      <p:sp>
        <p:nvSpPr>
          <p:cNvPr id="59" name="Text 47"/>
          <p:cNvSpPr txBox="1"/>
          <p:nvPr/>
        </p:nvSpPr>
        <p:spPr>
          <a:xfrm>
            <a:off x="7527158" y="5047488"/>
            <a:ext cx="16921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Maintenance</a:t>
            </a:r>
            <a:endParaRPr lang="en-US" sz="1350" dirty="0"/>
          </a:p>
        </p:txBody>
      </p:sp>
      <p:sp>
        <p:nvSpPr>
          <p:cNvPr id="60" name="Text 48"/>
          <p:cNvSpPr txBox="1"/>
          <p:nvPr/>
        </p:nvSpPr>
        <p:spPr>
          <a:xfrm>
            <a:off x="7527158" y="5385816"/>
            <a:ext cx="16921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and corrective upkeep of power, cooling and network systems.</a:t>
            </a:r>
            <a:endParaRPr lang="en-US" sz="1100" dirty="0"/>
          </a:p>
        </p:txBody>
      </p:sp>
      <p:sp>
        <p:nvSpPr>
          <p:cNvPr id="61" name="Shape 49"/>
          <p:cNvSpPr/>
          <p:nvPr/>
        </p:nvSpPr>
        <p:spPr>
          <a:xfrm>
            <a:off x="9585107" y="4041648"/>
            <a:ext cx="2057949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62" name="Shape 50"/>
          <p:cNvSpPr/>
          <p:nvPr/>
        </p:nvSpPr>
        <p:spPr>
          <a:xfrm>
            <a:off x="9786275" y="4242816"/>
            <a:ext cx="457200" cy="457200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6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5147" y="4361688"/>
            <a:ext cx="219456" cy="219456"/>
          </a:xfrm>
          <a:prstGeom prst="rect">
            <a:avLst/>
          </a:prstGeom>
        </p:spPr>
      </p:pic>
      <p:sp>
        <p:nvSpPr>
          <p:cNvPr id="64" name="Text 51"/>
          <p:cNvSpPr txBox="1"/>
          <p:nvPr/>
        </p:nvSpPr>
        <p:spPr>
          <a:xfrm>
            <a:off x="9786275" y="4818888"/>
            <a:ext cx="1692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CENTRE</a:t>
            </a:r>
            <a:endParaRPr lang="en-US" sz="850" dirty="0"/>
          </a:p>
        </p:txBody>
      </p:sp>
      <p:sp>
        <p:nvSpPr>
          <p:cNvPr id="65" name="Text 52"/>
          <p:cNvSpPr txBox="1"/>
          <p:nvPr/>
        </p:nvSpPr>
        <p:spPr>
          <a:xfrm>
            <a:off x="9786275" y="5047488"/>
            <a:ext cx="16921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Feasibility Study</a:t>
            </a:r>
            <a:endParaRPr lang="en-US" sz="1350" dirty="0"/>
          </a:p>
        </p:txBody>
      </p:sp>
      <p:sp>
        <p:nvSpPr>
          <p:cNvPr id="66" name="Text 53"/>
          <p:cNvSpPr txBox="1"/>
          <p:nvPr/>
        </p:nvSpPr>
        <p:spPr>
          <a:xfrm>
            <a:off x="9786275" y="5385816"/>
            <a:ext cx="16921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Technical, financial and operational viability of new data centre projects.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SPOTLIGHT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Airco Secure &amp; Airco VMS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intelligence that detects and alerts in real time — not just records for later review.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780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24231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detection, pose estimation and face recognition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44952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29900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Re‑identification to track movement across cameras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11880"/>
            <a:ext cx="256032" cy="25603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60120" y="355701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Phone‑use detection and activity classification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178808"/>
            <a:ext cx="256032" cy="25603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60120" y="41239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alerts and automated attendance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745736"/>
            <a:ext cx="256032" cy="25603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960120" y="46908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across one site or many</a:t>
            </a:r>
            <a:endParaRPr lang="en-US" sz="1400" dirty="0"/>
          </a:p>
        </p:txBody>
      </p:sp>
      <p:sp>
        <p:nvSpPr>
          <p:cNvPr id="15" name="Text 8"/>
          <p:cNvSpPr txBox="1"/>
          <p:nvPr/>
        </p:nvSpPr>
        <p:spPr>
          <a:xfrm>
            <a:off x="548640" y="54406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2EC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AT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Zostel (3 properties)  ·  Yaar — Your Friendly Bar  ·  Tosi Benne Dosa</a:t>
            </a:r>
            <a:endParaRPr lang="en-US" sz="1000" dirty="0"/>
          </a:p>
        </p:txBody>
      </p:sp>
      <p:sp>
        <p:nvSpPr>
          <p:cNvPr id="16" name="Shape 9"/>
          <p:cNvSpPr/>
          <p:nvPr/>
        </p:nvSpPr>
        <p:spPr>
          <a:xfrm>
            <a:off x="6492240" y="914400"/>
            <a:ext cx="5150815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4E7FB8"/>
            </a:solidFill>
            <a:prstDash val="solid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8272" y="1152144"/>
            <a:ext cx="329184" cy="329184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315200" y="914400"/>
            <a:ext cx="41449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RTSP cameras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B9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CCTV, any site</a:t>
            </a:r>
            <a:endParaRPr lang="en-US" sz="1500" dirty="0"/>
          </a:p>
        </p:txBody>
      </p:sp>
      <p:sp>
        <p:nvSpPr>
          <p:cNvPr id="19" name="Shape 11"/>
          <p:cNvSpPr/>
          <p:nvPr/>
        </p:nvSpPr>
        <p:spPr>
          <a:xfrm>
            <a:off x="6821424" y="1737360"/>
            <a:ext cx="182880" cy="146304"/>
          </a:xfrm>
          <a:prstGeom prst="downArrow">
            <a:avLst/>
          </a:prstGeom>
          <a:solidFill>
            <a:srgbClr val="2EC4F1"/>
          </a:solidFill>
          <a:ln w="12700">
            <a:solidFill>
              <a:srgbClr val="2EC4F1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6492240" y="1901952"/>
            <a:ext cx="5150815" cy="804672"/>
          </a:xfrm>
          <a:prstGeom prst="rect">
            <a:avLst/>
          </a:prstGeom>
          <a:solidFill>
            <a:srgbClr val="2EC4F1"/>
          </a:solidFill>
          <a:ln w="9525">
            <a:solidFill>
              <a:srgbClr val="2EC4F1"/>
            </a:solidFill>
            <a:prstDash val="solid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8272" y="2139696"/>
            <a:ext cx="329184" cy="329184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7315200" y="1901952"/>
            <a:ext cx="41449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inference pipeline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032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· pose · face · ReID · activity</a:t>
            </a:r>
            <a:endParaRPr lang="en-US" sz="1500" dirty="0"/>
          </a:p>
        </p:txBody>
      </p:sp>
      <p:sp>
        <p:nvSpPr>
          <p:cNvPr id="23" name="Shape 14"/>
          <p:cNvSpPr/>
          <p:nvPr/>
        </p:nvSpPr>
        <p:spPr>
          <a:xfrm>
            <a:off x="6821424" y="2724912"/>
            <a:ext cx="182880" cy="146304"/>
          </a:xfrm>
          <a:prstGeom prst="downArrow">
            <a:avLst/>
          </a:prstGeom>
          <a:solidFill>
            <a:srgbClr val="2EC4F1"/>
          </a:solidFill>
          <a:ln w="12700">
            <a:solidFill>
              <a:srgbClr val="2EC4F1"/>
            </a:solidFill>
            <a:prstDash val="solid"/>
          </a:ln>
        </p:spPr>
      </p:sp>
      <p:sp>
        <p:nvSpPr>
          <p:cNvPr id="24" name="Shape 15"/>
          <p:cNvSpPr/>
          <p:nvPr/>
        </p:nvSpPr>
        <p:spPr>
          <a:xfrm>
            <a:off x="6492240" y="2889504"/>
            <a:ext cx="5150815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4E7FB8"/>
            </a:solidFill>
            <a:prstDash val="solid"/>
          </a:ln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8272" y="3127248"/>
            <a:ext cx="329184" cy="329184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315200" y="2889504"/>
            <a:ext cx="41449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streams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B9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detection becomes a structured event</a:t>
            </a:r>
            <a:endParaRPr lang="en-US" sz="1500" dirty="0"/>
          </a:p>
        </p:txBody>
      </p:sp>
      <p:sp>
        <p:nvSpPr>
          <p:cNvPr id="27" name="Shape 17"/>
          <p:cNvSpPr/>
          <p:nvPr/>
        </p:nvSpPr>
        <p:spPr>
          <a:xfrm>
            <a:off x="6821424" y="3712464"/>
            <a:ext cx="182880" cy="146304"/>
          </a:xfrm>
          <a:prstGeom prst="downArrow">
            <a:avLst/>
          </a:prstGeom>
          <a:solidFill>
            <a:srgbClr val="2EC4F1"/>
          </a:solidFill>
          <a:ln w="12700">
            <a:solidFill>
              <a:srgbClr val="2EC4F1"/>
            </a:solidFill>
            <a:prstDash val="solid"/>
          </a:ln>
        </p:spPr>
      </p:sp>
      <p:sp>
        <p:nvSpPr>
          <p:cNvPr id="28" name="Shape 18"/>
          <p:cNvSpPr/>
          <p:nvPr/>
        </p:nvSpPr>
        <p:spPr>
          <a:xfrm>
            <a:off x="6492240" y="3877056"/>
            <a:ext cx="5150815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4E7FB8"/>
            </a:solidFill>
            <a:prstDash val="solid"/>
          </a:ln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8272" y="4114800"/>
            <a:ext cx="329184" cy="329184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7315200" y="3877056"/>
            <a:ext cx="41449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· alerts · attendance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B9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and insights in real time</a:t>
            </a:r>
            <a:endParaRPr lang="en-US" sz="1500" dirty="0"/>
          </a:p>
        </p:txBody>
      </p:sp>
      <p:sp>
        <p:nvSpPr>
          <p:cNvPr id="31" name="Shape 20"/>
          <p:cNvSpPr/>
          <p:nvPr/>
        </p:nvSpPr>
        <p:spPr>
          <a:xfrm>
            <a:off x="6821424" y="4700016"/>
            <a:ext cx="182880" cy="146304"/>
          </a:xfrm>
          <a:prstGeom prst="downArrow">
            <a:avLst/>
          </a:prstGeom>
          <a:solidFill>
            <a:srgbClr val="2EC4F1"/>
          </a:solidFill>
          <a:ln w="12700">
            <a:solidFill>
              <a:srgbClr val="2EC4F1"/>
            </a:solidFill>
            <a:prstDash val="solid"/>
          </a:ln>
        </p:spPr>
      </p:sp>
      <p:sp>
        <p:nvSpPr>
          <p:cNvPr id="32" name="Shape 21"/>
          <p:cNvSpPr/>
          <p:nvPr/>
        </p:nvSpPr>
        <p:spPr>
          <a:xfrm>
            <a:off x="6492240" y="4864608"/>
            <a:ext cx="5150815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4E7FB8"/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48272" y="5102352"/>
            <a:ext cx="329184" cy="329184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7315200" y="4864608"/>
            <a:ext cx="41449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B9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view for security &amp; operations</a:t>
            </a:r>
            <a:endParaRPr lang="en-US" sz="1500" dirty="0"/>
          </a:p>
        </p:txBody>
      </p:sp>
      <p:sp>
        <p:nvSpPr>
          <p:cNvPr id="35" name="Text 23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AiRCO  |  From Data to Intelligence</a:t>
            </a:r>
            <a:endParaRPr lang="en-US" sz="900" dirty="0"/>
          </a:p>
        </p:txBody>
      </p:sp>
      <p:sp>
        <p:nvSpPr>
          <p:cNvPr id="36" name="Text 24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SPOTLIGHT  ·  DOCUMENT INTELLIGENCE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Airco Insights: bank statements to credit decisions</a:t>
            </a:r>
            <a:endParaRPr lang="en-US" sz="3000" dirty="0"/>
          </a:p>
        </p:txBody>
      </p:sp>
      <p:pic>
        <p:nvPicPr>
          <p:cNvPr id="4" name="Image 0" descr="/home/claude/deck/assets/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8615" y="438912"/>
            <a:ext cx="1234440" cy="40902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AiRCO  |  From Data to Intelligence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2464994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947672"/>
            <a:ext cx="548640" cy="548640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2090318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965960"/>
            <a:ext cx="13677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463040" y="2194560"/>
            <a:ext cx="14134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2679192"/>
            <a:ext cx="20535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and scanned statements, uploaded in bulk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086786" y="2372868"/>
            <a:ext cx="265176" cy="329184"/>
          </a:xfrm>
          <a:prstGeom prst="rightArrow">
            <a:avLst/>
          </a:prstGeom>
          <a:solidFill>
            <a:srgbClr val="0A78B8"/>
          </a:solidFill>
          <a:ln w="12700">
            <a:solidFill>
              <a:srgbClr val="0A78B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425114" y="1691640"/>
            <a:ext cx="2464994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3714" y="1947672"/>
            <a:ext cx="548640" cy="548640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60" y="2090318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339514" y="1965960"/>
            <a:ext cx="13677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4339514" y="2194560"/>
            <a:ext cx="14134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3653714" y="2679192"/>
            <a:ext cx="20535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read, structured and categorised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963260" y="2372868"/>
            <a:ext cx="265176" cy="329184"/>
          </a:xfrm>
          <a:prstGeom prst="rightArrow">
            <a:avLst/>
          </a:prstGeom>
          <a:solidFill>
            <a:srgbClr val="0A78B8"/>
          </a:solidFill>
          <a:ln w="12700">
            <a:solidFill>
              <a:srgbClr val="0A78B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301588" y="1691640"/>
            <a:ext cx="2464994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30188" y="1947672"/>
            <a:ext cx="548640" cy="548640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834" y="2090318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215988" y="1965960"/>
            <a:ext cx="13677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7215988" y="2194560"/>
            <a:ext cx="14134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530188" y="2679192"/>
            <a:ext cx="20535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decision‑ready view of the applicant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8839733" y="2372868"/>
            <a:ext cx="265176" cy="329184"/>
          </a:xfrm>
          <a:prstGeom prst="rightArrow">
            <a:avLst/>
          </a:prstGeom>
          <a:solidFill>
            <a:srgbClr val="0A78B8"/>
          </a:solidFill>
          <a:ln w="12700">
            <a:solidFill>
              <a:srgbClr val="0A78B8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178061" y="1691640"/>
            <a:ext cx="2464994" cy="1691640"/>
          </a:xfrm>
          <a:prstGeom prst="rect">
            <a:avLst/>
          </a:prstGeom>
          <a:solidFill>
            <a:srgbClr val="03275B"/>
          </a:solidFill>
          <a:ln w="6350">
            <a:solidFill>
              <a:srgbClr val="03275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406661" y="1947672"/>
            <a:ext cx="548640" cy="548640"/>
          </a:xfrm>
          <a:prstGeom prst="ellipse">
            <a:avLst/>
          </a:prstGeom>
          <a:solidFill>
            <a:srgbClr val="2EC4F1"/>
          </a:solidFill>
          <a:ln w="12700">
            <a:solidFill>
              <a:srgbClr val="2EC4F1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9308" y="2090318"/>
            <a:ext cx="263347" cy="263347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0092461" y="1965960"/>
            <a:ext cx="13677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C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10092461" y="2194560"/>
            <a:ext cx="14134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9406661" y="2679192"/>
            <a:ext cx="20535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assessment in hours, not days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54864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548640" y="4133088"/>
            <a:ext cx="1874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777240" y="4361688"/>
            <a:ext cx="502920" cy="502920"/>
          </a:xfrm>
          <a:prstGeom prst="ellipse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99" y="4492447"/>
            <a:ext cx="241402" cy="241402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777240" y="50017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BFSI</a:t>
            </a:r>
            <a:endParaRPr lang="en-US" sz="1350" dirty="0"/>
          </a:p>
        </p:txBody>
      </p:sp>
      <p:sp>
        <p:nvSpPr>
          <p:cNvPr id="39" name="Text 31"/>
          <p:cNvSpPr txBox="1"/>
          <p:nvPr/>
        </p:nvSpPr>
        <p:spPr>
          <a:xfrm>
            <a:off x="777240" y="53675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and financial institutions</a:t>
            </a:r>
            <a:endParaRPr lang="en-US" sz="1150" dirty="0"/>
          </a:p>
        </p:txBody>
      </p:sp>
      <p:sp>
        <p:nvSpPr>
          <p:cNvPr id="40" name="Shape 32"/>
          <p:cNvSpPr/>
          <p:nvPr/>
        </p:nvSpPr>
        <p:spPr>
          <a:xfrm>
            <a:off x="2606040" y="4133088"/>
            <a:ext cx="1874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2834640" y="4361688"/>
            <a:ext cx="502920" cy="502920"/>
          </a:xfrm>
          <a:prstGeom prst="ellipse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5399" y="4492447"/>
            <a:ext cx="241402" cy="241402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2834640" y="50017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NBFCs &amp; Lending</a:t>
            </a:r>
            <a:endParaRPr lang="en-US" sz="1350" dirty="0"/>
          </a:p>
        </p:txBody>
      </p:sp>
      <p:sp>
        <p:nvSpPr>
          <p:cNvPr id="44" name="Text 35"/>
          <p:cNvSpPr txBox="1"/>
          <p:nvPr/>
        </p:nvSpPr>
        <p:spPr>
          <a:xfrm>
            <a:off x="2834640" y="53675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and lending institutions</a:t>
            </a:r>
            <a:endParaRPr lang="en-US" sz="1150" dirty="0"/>
          </a:p>
        </p:txBody>
      </p:sp>
      <p:sp>
        <p:nvSpPr>
          <p:cNvPr id="45" name="Shape 36"/>
          <p:cNvSpPr/>
          <p:nvPr/>
        </p:nvSpPr>
        <p:spPr>
          <a:xfrm>
            <a:off x="4663440" y="4133088"/>
            <a:ext cx="1874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4892040" y="4361688"/>
            <a:ext cx="502920" cy="502920"/>
          </a:xfrm>
          <a:prstGeom prst="ellipse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2799" y="4492447"/>
            <a:ext cx="241402" cy="241402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4892040" y="50017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 Platforms</a:t>
            </a:r>
            <a:endParaRPr lang="en-US" sz="1350" dirty="0"/>
          </a:p>
        </p:txBody>
      </p:sp>
      <p:sp>
        <p:nvSpPr>
          <p:cNvPr id="49" name="Text 39"/>
          <p:cNvSpPr txBox="1"/>
          <p:nvPr/>
        </p:nvSpPr>
        <p:spPr>
          <a:xfrm>
            <a:off x="4892040" y="53675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lending and investing</a:t>
            </a:r>
            <a:endParaRPr lang="en-US" sz="1150" dirty="0"/>
          </a:p>
        </p:txBody>
      </p:sp>
      <p:sp>
        <p:nvSpPr>
          <p:cNvPr id="50" name="Text 40"/>
          <p:cNvSpPr txBox="1"/>
          <p:nvPr/>
        </p:nvSpPr>
        <p:spPr>
          <a:xfrm>
            <a:off x="699516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</a:t>
            </a:r>
            <a:endParaRPr lang="en-US" sz="1100" dirty="0"/>
          </a:p>
        </p:txBody>
      </p:sp>
      <p:sp>
        <p:nvSpPr>
          <p:cNvPr id="51" name="Shape 41"/>
          <p:cNvSpPr/>
          <p:nvPr/>
        </p:nvSpPr>
        <p:spPr>
          <a:xfrm>
            <a:off x="6995160" y="4133088"/>
            <a:ext cx="2232508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pic>
        <p:nvPicPr>
          <p:cNvPr id="52" name="Image 8" descr="/home/claude/deck/assets/angelone_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37914" y="4315968"/>
            <a:ext cx="746999" cy="960120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6995160" y="5394960"/>
            <a:ext cx="22325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Angel One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Airco Insights</a:t>
            </a:r>
            <a:endParaRPr lang="en-US" sz="1300" dirty="0"/>
          </a:p>
        </p:txBody>
      </p:sp>
      <p:sp>
        <p:nvSpPr>
          <p:cNvPr id="54" name="Shape 43"/>
          <p:cNvSpPr/>
          <p:nvPr/>
        </p:nvSpPr>
        <p:spPr>
          <a:xfrm>
            <a:off x="9410548" y="4133088"/>
            <a:ext cx="2232508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pic>
        <p:nvPicPr>
          <p:cNvPr id="55" name="Image 9" descr="/home/claude/deck/assets/mypaisaa_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6308" y="4529603"/>
            <a:ext cx="1500988" cy="532851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9410548" y="5394960"/>
            <a:ext cx="22325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myPaisaa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delivered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AIRCO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searching. Less reviewing. More deciding.</a:t>
            </a:r>
            <a:endParaRPr lang="en-US" sz="3000" dirty="0"/>
          </a:p>
        </p:txBody>
      </p:sp>
      <p:pic>
        <p:nvPicPr>
          <p:cNvPr id="4" name="Image 0" descr="/home/claude/deck/assets/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8615" y="438912"/>
            <a:ext cx="1234440" cy="40902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AiRCO  |  From Data to Intelligence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4846320" cy="457200"/>
          </a:xfrm>
          <a:prstGeom prst="rect">
            <a:avLst/>
          </a:prstGeom>
          <a:solidFill>
            <a:srgbClr val="E4E9F0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645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AIRCO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796735" y="1645920"/>
            <a:ext cx="4846320" cy="457200"/>
          </a:xfrm>
          <a:prstGeom prst="rect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71055" y="1645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AIRCO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240280"/>
            <a:ext cx="4846320" cy="7132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6888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34440" y="224028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scattered across cameras, calls, documents and systems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839816" y="2340864"/>
            <a:ext cx="512064" cy="512064"/>
          </a:xfrm>
          <a:prstGeom prst="ellipse">
            <a:avLst/>
          </a:prstGeom>
          <a:solidFill>
            <a:srgbClr val="0A78B8"/>
          </a:solidFill>
          <a:ln w="12700">
            <a:solidFill>
              <a:srgbClr val="0A78B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952" y="2474001"/>
            <a:ext cx="245791" cy="24579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796735" y="2240280"/>
            <a:ext cx="4846320" cy="713232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055" y="2468880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82535" y="224028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2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intelligence layer across every data type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548640" y="3044952"/>
            <a:ext cx="4846320" cy="7132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273552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34440" y="3044952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statement, feed and call reviewed by hand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5839816" y="3145536"/>
            <a:ext cx="512064" cy="512064"/>
          </a:xfrm>
          <a:prstGeom prst="ellipse">
            <a:avLst/>
          </a:prstGeom>
          <a:solidFill>
            <a:srgbClr val="0A78B8"/>
          </a:solidFill>
          <a:ln w="12700">
            <a:solidFill>
              <a:srgbClr val="0A78B8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2952" y="3278673"/>
            <a:ext cx="245791" cy="245791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6796735" y="3044952"/>
            <a:ext cx="4846320" cy="713232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1055" y="3273552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482535" y="3044952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2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review, so people focus on judgment</a:t>
            </a:r>
            <a:endParaRPr lang="en-US" sz="1350" dirty="0"/>
          </a:p>
        </p:txBody>
      </p:sp>
      <p:sp>
        <p:nvSpPr>
          <p:cNvPr id="27" name="Shape 18"/>
          <p:cNvSpPr/>
          <p:nvPr/>
        </p:nvSpPr>
        <p:spPr>
          <a:xfrm>
            <a:off x="548640" y="3849624"/>
            <a:ext cx="4846320" cy="7132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078224"/>
            <a:ext cx="256032" cy="256032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234440" y="384962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Footage recorded and checked after the fact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5839816" y="3950208"/>
            <a:ext cx="512064" cy="512064"/>
          </a:xfrm>
          <a:prstGeom prst="ellipse">
            <a:avLst/>
          </a:prstGeom>
          <a:solidFill>
            <a:srgbClr val="0A78B8"/>
          </a:solidFill>
          <a:ln w="12700">
            <a:solidFill>
              <a:srgbClr val="0A78B8"/>
            </a:solidFill>
            <a:prstDash val="solid"/>
          </a:ln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2952" y="4083345"/>
            <a:ext cx="245791" cy="245791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6796735" y="3849624"/>
            <a:ext cx="4846320" cy="713232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1055" y="4078224"/>
            <a:ext cx="256032" cy="256032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7482535" y="384962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2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Real‑time detection and alerts where it matters</a:t>
            </a:r>
            <a:endParaRPr lang="en-US" sz="1350" dirty="0"/>
          </a:p>
        </p:txBody>
      </p:sp>
      <p:sp>
        <p:nvSpPr>
          <p:cNvPr id="35" name="Shape 23"/>
          <p:cNvSpPr/>
          <p:nvPr/>
        </p:nvSpPr>
        <p:spPr>
          <a:xfrm>
            <a:off x="548640" y="4654296"/>
            <a:ext cx="4846320" cy="7132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960" y="4882896"/>
            <a:ext cx="256032" cy="256032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1234440" y="4654296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spent reviewing bank statements and tenders</a:t>
            </a:r>
            <a:endParaRPr lang="en-US" sz="1300" dirty="0"/>
          </a:p>
        </p:txBody>
      </p:sp>
      <p:sp>
        <p:nvSpPr>
          <p:cNvPr id="38" name="Shape 25"/>
          <p:cNvSpPr/>
          <p:nvPr/>
        </p:nvSpPr>
        <p:spPr>
          <a:xfrm>
            <a:off x="5839816" y="4754880"/>
            <a:ext cx="512064" cy="512064"/>
          </a:xfrm>
          <a:prstGeom prst="ellipse">
            <a:avLst/>
          </a:prstGeom>
          <a:solidFill>
            <a:srgbClr val="0A78B8"/>
          </a:solidFill>
          <a:ln w="12700">
            <a:solidFill>
              <a:srgbClr val="0A78B8"/>
            </a:solidFill>
            <a:prstDash val="solid"/>
          </a:ln>
        </p:spPr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72952" y="4888017"/>
            <a:ext cx="245791" cy="245791"/>
          </a:xfrm>
          <a:prstGeom prst="rect">
            <a:avLst/>
          </a:prstGeom>
        </p:spPr>
      </p:pic>
      <p:sp>
        <p:nvSpPr>
          <p:cNvPr id="40" name="Shape 26"/>
          <p:cNvSpPr/>
          <p:nvPr/>
        </p:nvSpPr>
        <p:spPr>
          <a:xfrm>
            <a:off x="6796735" y="4654296"/>
            <a:ext cx="4846320" cy="713232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1055" y="4882896"/>
            <a:ext cx="256032" cy="256032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7482535" y="4654296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2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decision‑ready output in hours</a:t>
            </a:r>
            <a:endParaRPr lang="en-US" sz="1350" dirty="0"/>
          </a:p>
        </p:txBody>
      </p:sp>
      <p:sp>
        <p:nvSpPr>
          <p:cNvPr id="43" name="Shape 28"/>
          <p:cNvSpPr/>
          <p:nvPr/>
        </p:nvSpPr>
        <p:spPr>
          <a:xfrm>
            <a:off x="548640" y="5458968"/>
            <a:ext cx="4846320" cy="7132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2960" y="5687568"/>
            <a:ext cx="256032" cy="256032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1234440" y="545896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time spent on low‑intent leads</a:t>
            </a:r>
            <a:endParaRPr lang="en-US" sz="1300" dirty="0"/>
          </a:p>
        </p:txBody>
      </p:sp>
      <p:sp>
        <p:nvSpPr>
          <p:cNvPr id="46" name="Shape 30"/>
          <p:cNvSpPr/>
          <p:nvPr/>
        </p:nvSpPr>
        <p:spPr>
          <a:xfrm>
            <a:off x="5839816" y="5559552"/>
            <a:ext cx="512064" cy="512064"/>
          </a:xfrm>
          <a:prstGeom prst="ellipse">
            <a:avLst/>
          </a:prstGeom>
          <a:solidFill>
            <a:srgbClr val="0A78B8"/>
          </a:solidFill>
          <a:ln w="12700">
            <a:solidFill>
              <a:srgbClr val="0A78B8"/>
            </a:solidFill>
            <a:prstDash val="solid"/>
          </a:ln>
        </p:spPr>
      </p:sp>
      <p:pic>
        <p:nvPicPr>
          <p:cNvPr id="4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72952" y="5692689"/>
            <a:ext cx="245791" cy="245791"/>
          </a:xfrm>
          <a:prstGeom prst="rect">
            <a:avLst/>
          </a:prstGeom>
        </p:spPr>
      </p:pic>
      <p:sp>
        <p:nvSpPr>
          <p:cNvPr id="48" name="Shape 31"/>
          <p:cNvSpPr/>
          <p:nvPr/>
        </p:nvSpPr>
        <p:spPr>
          <a:xfrm>
            <a:off x="6796735" y="5458968"/>
            <a:ext cx="4846320" cy="713232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4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71055" y="5687568"/>
            <a:ext cx="256032" cy="256032"/>
          </a:xfrm>
          <a:prstGeom prst="rect">
            <a:avLst/>
          </a:prstGeom>
        </p:spPr>
      </p:pic>
      <p:sp>
        <p:nvSpPr>
          <p:cNvPr id="50" name="Text 32"/>
          <p:cNvSpPr txBox="1"/>
          <p:nvPr/>
        </p:nvSpPr>
        <p:spPr>
          <a:xfrm>
            <a:off x="7482535" y="545896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2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High‑intent prospects surfaced and qualified first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Wherever information drives decisions</a:t>
            </a:r>
            <a:endParaRPr lang="en-US" sz="3000" dirty="0"/>
          </a:p>
        </p:txBody>
      </p:sp>
      <p:pic>
        <p:nvPicPr>
          <p:cNvPr id="4" name="Image 0" descr="/home/claude/deck/assets/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8615" y="438912"/>
            <a:ext cx="1234440" cy="40902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AiRCO  |  From Data to Intelligence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602154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011680"/>
            <a:ext cx="530352" cy="530352"/>
          </a:xfrm>
          <a:prstGeom prst="ellipse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852" y="2149572"/>
            <a:ext cx="254569" cy="25456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2606040"/>
            <a:ext cx="2144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BFSI, NBFCs &amp; Fintech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172968"/>
            <a:ext cx="20992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consistent bank statement review for credit and lending.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379394" y="1737360"/>
            <a:ext cx="2602154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653714" y="2011680"/>
            <a:ext cx="530352" cy="530352"/>
          </a:xfrm>
          <a:prstGeom prst="ellipse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1605" y="2149572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653714" y="2606040"/>
            <a:ext cx="2144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&amp; E‑commerce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3653714" y="3172968"/>
            <a:ext cx="20992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security plus responsive digital customer engagement.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210148" y="1737360"/>
            <a:ext cx="2602154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484468" y="2011680"/>
            <a:ext cx="530352" cy="530352"/>
          </a:xfrm>
          <a:prstGeom prst="ellipse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359" y="2149572"/>
            <a:ext cx="254569" cy="254569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484468" y="2606040"/>
            <a:ext cx="2144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&amp; Industrial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6484468" y="3172968"/>
            <a:ext cx="20992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security and reliable infrastructure, monitored at scale.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9040901" y="1737360"/>
            <a:ext cx="2602154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315221" y="2011680"/>
            <a:ext cx="530352" cy="530352"/>
          </a:xfrm>
          <a:prstGeom prst="ellipse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3113" y="2149572"/>
            <a:ext cx="254569" cy="254569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315221" y="2606040"/>
            <a:ext cx="2144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&amp; Public Sector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9315221" y="3172968"/>
            <a:ext cx="20992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oversight and rigorous tender and compliance processes.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548640" y="4069080"/>
            <a:ext cx="2602154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22960" y="4343400"/>
            <a:ext cx="530352" cy="530352"/>
          </a:xfrm>
          <a:prstGeom prst="ellipse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852" y="4481292"/>
            <a:ext cx="254569" cy="254569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22960" y="4937760"/>
            <a:ext cx="2144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 &amp; Infrastructure</a:t>
            </a:r>
            <a:endParaRPr lang="en-US" sz="1400" dirty="0"/>
          </a:p>
        </p:txBody>
      </p:sp>
      <p:sp>
        <p:nvSpPr>
          <p:cNvPr id="31" name="Text 23"/>
          <p:cNvSpPr txBox="1"/>
          <p:nvPr/>
        </p:nvSpPr>
        <p:spPr>
          <a:xfrm>
            <a:off x="822960" y="5504688"/>
            <a:ext cx="20992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large properties and planning infrastructure soundly.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3379394" y="4069080"/>
            <a:ext cx="2602154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3653714" y="4343400"/>
            <a:ext cx="530352" cy="530352"/>
          </a:xfrm>
          <a:prstGeom prst="ellipse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1605" y="4481292"/>
            <a:ext cx="254569" cy="254569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3653714" y="4937760"/>
            <a:ext cx="2144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400" dirty="0"/>
          </a:p>
        </p:txBody>
      </p:sp>
      <p:sp>
        <p:nvSpPr>
          <p:cNvPr id="36" name="Text 27"/>
          <p:cNvSpPr txBox="1"/>
          <p:nvPr/>
        </p:nvSpPr>
        <p:spPr>
          <a:xfrm>
            <a:off x="3653714" y="5504688"/>
            <a:ext cx="20992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monitoring and responsive patient communication.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>
            <a:off x="6210148" y="4069080"/>
            <a:ext cx="2602154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38" name="Shape 29"/>
          <p:cNvSpPr/>
          <p:nvPr/>
        </p:nvSpPr>
        <p:spPr>
          <a:xfrm>
            <a:off x="6484468" y="4343400"/>
            <a:ext cx="530352" cy="530352"/>
          </a:xfrm>
          <a:prstGeom prst="ellipse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2359" y="4481292"/>
            <a:ext cx="254569" cy="254569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6484468" y="4937760"/>
            <a:ext cx="2144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&amp; Transportation</a:t>
            </a:r>
            <a:endParaRPr lang="en-US" sz="1400" dirty="0"/>
          </a:p>
        </p:txBody>
      </p:sp>
      <p:sp>
        <p:nvSpPr>
          <p:cNvPr id="41" name="Text 31"/>
          <p:cNvSpPr txBox="1"/>
          <p:nvPr/>
        </p:nvSpPr>
        <p:spPr>
          <a:xfrm>
            <a:off x="6484468" y="5504688"/>
            <a:ext cx="20992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security monitoring across sites and facilities.</a:t>
            </a:r>
            <a:endParaRPr lang="en-US" sz="1200" dirty="0"/>
          </a:p>
        </p:txBody>
      </p:sp>
      <p:sp>
        <p:nvSpPr>
          <p:cNvPr id="42" name="Shape 32"/>
          <p:cNvSpPr/>
          <p:nvPr/>
        </p:nvSpPr>
        <p:spPr>
          <a:xfrm>
            <a:off x="9040901" y="4069080"/>
            <a:ext cx="2602154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43" name="Shape 33"/>
          <p:cNvSpPr/>
          <p:nvPr/>
        </p:nvSpPr>
        <p:spPr>
          <a:xfrm>
            <a:off x="9315221" y="4343400"/>
            <a:ext cx="530352" cy="530352"/>
          </a:xfrm>
          <a:prstGeom prst="ellipse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53113" y="4481292"/>
            <a:ext cx="254569" cy="254569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9315221" y="4937760"/>
            <a:ext cx="2144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IT, Telecom &amp; Data Centres</a:t>
            </a:r>
            <a:endParaRPr lang="en-US" sz="1400" dirty="0"/>
          </a:p>
        </p:txBody>
      </p:sp>
      <p:sp>
        <p:nvSpPr>
          <p:cNvPr id="46" name="Text 35"/>
          <p:cNvSpPr txBox="1"/>
          <p:nvPr/>
        </p:nvSpPr>
        <p:spPr>
          <a:xfrm>
            <a:off x="9315221" y="5504688"/>
            <a:ext cx="20992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maintenance and feasibility for critical infrastructure.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by leading Indian brands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3006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 ·  AIRCO INSIGHTS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77846" y="1600200"/>
            <a:ext cx="65652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 ·  VIDEO ANALYTICS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036003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home/claude/deck/assets/angelone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928" y="2148840"/>
            <a:ext cx="711428" cy="914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15468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Angel One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statement analysis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813243" y="1965960"/>
            <a:ext cx="2036003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/home/claude/deck/assets/mypaisaa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283" y="2358264"/>
            <a:ext cx="1395923" cy="49555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13243" y="315468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myPaisaa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statement analysis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77846" y="1965960"/>
            <a:ext cx="2036003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2" descr="/home/claude/deck/assets/zostel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073" y="2148840"/>
            <a:ext cx="971550" cy="9144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77846" y="315468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Zostel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analytics · 3 properties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7342449" y="1965960"/>
            <a:ext cx="2036003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3" descr="/home/claude/deck/assets/ya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3251" y="2148840"/>
            <a:ext cx="914400" cy="9144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342449" y="315468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Yaar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Bar · Video analytics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9607052" y="1965960"/>
            <a:ext cx="2036003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4" descr="/home/claude/deck/assets/tos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7854" y="2148840"/>
            <a:ext cx="914400" cy="9144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607052" y="315468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Tosi Benne Dosa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analytics</a:t>
            </a:r>
            <a:endParaRPr lang="en-US" sz="125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PILOTS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548640" y="4434840"/>
            <a:ext cx="2036003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5" descr="/home/claude/deck/assets/flipka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9442" y="4617720"/>
            <a:ext cx="914400" cy="9144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48640" y="562356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Flipkart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E‑commerce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2813243" y="4434840"/>
            <a:ext cx="2036003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6" descr="/home/claude/deck/assets/oyo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4045" y="4617720"/>
            <a:ext cx="914400" cy="91440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2813243" y="562356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OYO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</a:t>
            </a:r>
            <a:endParaRPr lang="en-US" sz="1250" dirty="0"/>
          </a:p>
        </p:txBody>
      </p:sp>
      <p:sp>
        <p:nvSpPr>
          <p:cNvPr id="28" name="Shape 19"/>
          <p:cNvSpPr/>
          <p:nvPr/>
        </p:nvSpPr>
        <p:spPr>
          <a:xfrm>
            <a:off x="5077846" y="4434840"/>
            <a:ext cx="2036003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7" descr="/home/claude/deck/assets/stayvist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8648" y="4617720"/>
            <a:ext cx="914400" cy="91440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5077846" y="562356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StayVista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villa stays</a:t>
            </a:r>
            <a:endParaRPr lang="en-US" sz="1250" dirty="0"/>
          </a:p>
        </p:txBody>
      </p:sp>
      <p:sp>
        <p:nvSpPr>
          <p:cNvPr id="31" name="Shape 21"/>
          <p:cNvSpPr/>
          <p:nvPr/>
        </p:nvSpPr>
        <p:spPr>
          <a:xfrm>
            <a:off x="7342449" y="4434840"/>
            <a:ext cx="2036003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mage 8" descr="/home/claude/deck/assets/bakingo_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2489" y="4741071"/>
            <a:ext cx="1395923" cy="667698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7342449" y="562356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Bakingo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food &amp; gifting</a:t>
            </a:r>
            <a:endParaRPr lang="en-US" sz="1250" dirty="0"/>
          </a:p>
        </p:txBody>
      </p:sp>
      <p:sp>
        <p:nvSpPr>
          <p:cNvPr id="34" name="Shape 23"/>
          <p:cNvSpPr/>
          <p:nvPr/>
        </p:nvSpPr>
        <p:spPr>
          <a:xfrm>
            <a:off x="9607052" y="4434840"/>
            <a:ext cx="2036003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Image 9" descr="/home/claude/deck/assets/ablivin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67854" y="4617720"/>
            <a:ext cx="914400" cy="914400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9607052" y="562356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Living Group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&amp; lifestyle</a:t>
            </a:r>
            <a:endParaRPr lang="en-US" sz="1250" dirty="0"/>
          </a:p>
        </p:txBody>
      </p:sp>
      <p:sp>
        <p:nvSpPr>
          <p:cNvPr id="37" name="Text 25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AiRCO  |  From Data to Intelligence</a:t>
            </a:r>
            <a:endParaRPr lang="en-US" sz="900" dirty="0"/>
          </a:p>
        </p:txBody>
      </p:sp>
      <p:sp>
        <p:nvSpPr>
          <p:cNvPr id="38" name="Text 26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COMPLIANCE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Independently certified and recognised</a:t>
            </a:r>
            <a:endParaRPr lang="en-US" sz="3000" dirty="0"/>
          </a:p>
        </p:txBody>
      </p:sp>
      <p:pic>
        <p:nvPicPr>
          <p:cNvPr id="4" name="Image 0" descr="/home/claude/deck/assets/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8615" y="438912"/>
            <a:ext cx="1234440" cy="40902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AiRCO  |  From Data to Intelligence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2602154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" y="2005279"/>
            <a:ext cx="241402" cy="241402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874" y="192024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77240" y="2487168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27001:2022</a:t>
            </a:r>
            <a:endParaRPr lang="en-US" sz="1450" dirty="0"/>
          </a:p>
        </p:txBody>
      </p:sp>
      <p:sp>
        <p:nvSpPr>
          <p:cNvPr id="12" name="Text 7"/>
          <p:cNvSpPr txBox="1"/>
          <p:nvPr/>
        </p:nvSpPr>
        <p:spPr>
          <a:xfrm>
            <a:off x="777240" y="2807208"/>
            <a:ext cx="2236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(ISMS)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777240" y="3182112"/>
            <a:ext cx="22363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NO.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A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305026010959IS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QRO Certification LLP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to 08 Jan 2029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685800" y="4133088"/>
            <a:ext cx="2327834" cy="576072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22960" y="4133088"/>
            <a:ext cx="205351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32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controls protecting client data end to end.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379394" y="1645920"/>
            <a:ext cx="2602154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607994" y="1874520"/>
            <a:ext cx="502920" cy="502920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8753" y="2005279"/>
            <a:ext cx="241402" cy="241402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8628" y="192024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3607994" y="2487168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Compliance</a:t>
            </a:r>
            <a:endParaRPr lang="en-US" sz="1450" dirty="0"/>
          </a:p>
        </p:txBody>
      </p:sp>
      <p:sp>
        <p:nvSpPr>
          <p:cNvPr id="21" name="Text 14"/>
          <p:cNvSpPr txBox="1"/>
          <p:nvPr/>
        </p:nvSpPr>
        <p:spPr>
          <a:xfrm>
            <a:off x="3607994" y="2807208"/>
            <a:ext cx="2236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Data Protection Regulation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3607994" y="3182112"/>
            <a:ext cx="22363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NO.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A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2026010919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Eurocert Inspection Ltd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to 08 Jan 2029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3516554" y="4133088"/>
            <a:ext cx="2327834" cy="576072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3653714" y="4133088"/>
            <a:ext cx="205351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32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handled to EU‑grade privacy standards.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210148" y="1645920"/>
            <a:ext cx="2602154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438748" y="1874520"/>
            <a:ext cx="502920" cy="502920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9507" y="2005279"/>
            <a:ext cx="241402" cy="241402"/>
          </a:xfrm>
          <a:prstGeom prst="rect">
            <a:avLst/>
          </a:prstGeom>
        </p:spPr>
      </p:pic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9381" y="1920240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438748" y="2487168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MSME · Udyam</a:t>
            </a:r>
            <a:endParaRPr lang="en-US" sz="1450" dirty="0"/>
          </a:p>
        </p:txBody>
      </p:sp>
      <p:sp>
        <p:nvSpPr>
          <p:cNvPr id="30" name="Text 21"/>
          <p:cNvSpPr txBox="1"/>
          <p:nvPr/>
        </p:nvSpPr>
        <p:spPr>
          <a:xfrm>
            <a:off x="6438748" y="2807208"/>
            <a:ext cx="2236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Micro Enterprise (Services)</a:t>
            </a:r>
            <a:endParaRPr lang="en-US" sz="1100" dirty="0"/>
          </a:p>
        </p:txBody>
      </p:sp>
      <p:sp>
        <p:nvSpPr>
          <p:cNvPr id="31" name="Text 22"/>
          <p:cNvSpPr txBox="1"/>
          <p:nvPr/>
        </p:nvSpPr>
        <p:spPr>
          <a:xfrm>
            <a:off x="6438748" y="3182112"/>
            <a:ext cx="22363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NO.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A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UDYAM-MH-18-0510961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MSME, Govt. of India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07 Jan 2026</a:t>
            </a:r>
            <a:endParaRPr lang="en-US" sz="850" dirty="0"/>
          </a:p>
        </p:txBody>
      </p:sp>
      <p:sp>
        <p:nvSpPr>
          <p:cNvPr id="32" name="Shape 23"/>
          <p:cNvSpPr/>
          <p:nvPr/>
        </p:nvSpPr>
        <p:spPr>
          <a:xfrm>
            <a:off x="6347308" y="4133088"/>
            <a:ext cx="2327834" cy="576072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6484468" y="4133088"/>
            <a:ext cx="205351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32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for MSE benefits in public procurement.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9040901" y="1645920"/>
            <a:ext cx="2602154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9269501" y="1874520"/>
            <a:ext cx="502920" cy="502920"/>
          </a:xfrm>
          <a:prstGeom prst="ellipse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0261" y="2005279"/>
            <a:ext cx="241402" cy="241402"/>
          </a:xfrm>
          <a:prstGeom prst="rect">
            <a:avLst/>
          </a:prstGeom>
        </p:spPr>
      </p:pic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40135" y="1920240"/>
            <a:ext cx="274320" cy="27432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9269501" y="2487168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DPIIT Startup India</a:t>
            </a:r>
            <a:endParaRPr lang="en-US" sz="1450" dirty="0"/>
          </a:p>
        </p:txBody>
      </p:sp>
      <p:sp>
        <p:nvSpPr>
          <p:cNvPr id="39" name="Text 28"/>
          <p:cNvSpPr txBox="1"/>
          <p:nvPr/>
        </p:nvSpPr>
        <p:spPr>
          <a:xfrm>
            <a:off x="9269501" y="2807208"/>
            <a:ext cx="2236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Recognised Startup · AI industry</a:t>
            </a:r>
            <a:endParaRPr lang="en-US" sz="1100" dirty="0"/>
          </a:p>
        </p:txBody>
      </p:sp>
      <p:sp>
        <p:nvSpPr>
          <p:cNvPr id="40" name="Text 29"/>
          <p:cNvSpPr txBox="1"/>
          <p:nvPr/>
        </p:nvSpPr>
        <p:spPr>
          <a:xfrm>
            <a:off x="9269501" y="3182112"/>
            <a:ext cx="22363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NO.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A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DIPP238628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DPIIT, Govt. of India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to 30 Jan 2035</a:t>
            </a:r>
            <a:endParaRPr lang="en-US" sz="850" dirty="0"/>
          </a:p>
        </p:txBody>
      </p:sp>
      <p:sp>
        <p:nvSpPr>
          <p:cNvPr id="41" name="Shape 30"/>
          <p:cNvSpPr/>
          <p:nvPr/>
        </p:nvSpPr>
        <p:spPr>
          <a:xfrm>
            <a:off x="9178061" y="4133088"/>
            <a:ext cx="2327834" cy="576072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42" name="Text 31"/>
          <p:cNvSpPr txBox="1"/>
          <p:nvPr/>
        </p:nvSpPr>
        <p:spPr>
          <a:xfrm>
            <a:off x="9315221" y="4133088"/>
            <a:ext cx="205351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32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for startup relaxations in government tenders.</a:t>
            </a:r>
            <a:endParaRPr lang="en-US" sz="1050" dirty="0"/>
          </a:p>
        </p:txBody>
      </p:sp>
      <p:sp>
        <p:nvSpPr>
          <p:cNvPr id="43" name="Shape 32"/>
          <p:cNvSpPr/>
          <p:nvPr/>
        </p:nvSpPr>
        <p:spPr>
          <a:xfrm>
            <a:off x="548640" y="5074920"/>
            <a:ext cx="11094415" cy="1097280"/>
          </a:xfrm>
          <a:prstGeom prst="rect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sp>
        <p:nvSpPr>
          <p:cNvPr id="44" name="Text 33"/>
          <p:cNvSpPr txBox="1"/>
          <p:nvPr/>
        </p:nvSpPr>
        <p:spPr>
          <a:xfrm>
            <a:off x="822960" y="50749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2EC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SCOPE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intelligence, video analytics and data analytics services, ensuring confidentiality, integrity and compliance with data protection requirements.</a:t>
            </a:r>
            <a:endParaRPr lang="en-US" sz="1000" dirty="0"/>
          </a:p>
        </p:txBody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5684" y="5303520"/>
            <a:ext cx="347472" cy="347472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6309360" y="57332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50" dirty="0"/>
          </a:p>
        </p:txBody>
      </p:sp>
      <p:sp>
        <p:nvSpPr>
          <p:cNvPr id="47" name="Shape 35"/>
          <p:cNvSpPr/>
          <p:nvPr/>
        </p:nvSpPr>
        <p:spPr>
          <a:xfrm>
            <a:off x="7381189" y="5376672"/>
            <a:ext cx="182880" cy="237744"/>
          </a:xfrm>
          <a:prstGeom prst="chevron">
            <a:avLst/>
          </a:prstGeom>
          <a:solidFill>
            <a:srgbClr val="4E7FB8"/>
          </a:solidFill>
          <a:ln w="12700">
            <a:solidFill>
              <a:srgbClr val="4E7FB8"/>
            </a:solidFill>
            <a:prstDash val="solid"/>
          </a:ln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82102" y="5303520"/>
            <a:ext cx="347472" cy="347472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7675778" y="57332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50" dirty="0"/>
          </a:p>
        </p:txBody>
      </p:sp>
      <p:sp>
        <p:nvSpPr>
          <p:cNvPr id="50" name="Shape 37"/>
          <p:cNvSpPr/>
          <p:nvPr/>
        </p:nvSpPr>
        <p:spPr>
          <a:xfrm>
            <a:off x="8747608" y="5376672"/>
            <a:ext cx="182880" cy="237744"/>
          </a:xfrm>
          <a:prstGeom prst="chevron">
            <a:avLst/>
          </a:prstGeom>
          <a:solidFill>
            <a:srgbClr val="4E7FB8"/>
          </a:solidFill>
          <a:ln w="12700">
            <a:solidFill>
              <a:srgbClr val="4E7FB8"/>
            </a:solidFill>
            <a:prstDash val="solid"/>
          </a:ln>
        </p:spPr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8521" y="5303520"/>
            <a:ext cx="347472" cy="347472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9042197" y="57332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50" dirty="0"/>
          </a:p>
        </p:txBody>
      </p:sp>
      <p:sp>
        <p:nvSpPr>
          <p:cNvPr id="53" name="Shape 39"/>
          <p:cNvSpPr/>
          <p:nvPr/>
        </p:nvSpPr>
        <p:spPr>
          <a:xfrm>
            <a:off x="10114026" y="5376672"/>
            <a:ext cx="182880" cy="237744"/>
          </a:xfrm>
          <a:prstGeom prst="chevron">
            <a:avLst/>
          </a:prstGeom>
          <a:solidFill>
            <a:srgbClr val="4E7FB8"/>
          </a:solidFill>
          <a:ln w="12700">
            <a:solidFill>
              <a:srgbClr val="4E7FB8"/>
            </a:solidFill>
            <a:prstDash val="solid"/>
          </a:ln>
        </p:spPr>
      </p:sp>
      <p:pic>
        <p:nvPicPr>
          <p:cNvPr id="5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14939" y="5303520"/>
            <a:ext cx="347472" cy="347472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10408615" y="57332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PARTNERING WITH AIRCO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partnership model built for the channel</a:t>
            </a:r>
            <a:endParaRPr lang="en-US" sz="3000" dirty="0"/>
          </a:p>
        </p:txBody>
      </p:sp>
      <p:pic>
        <p:nvPicPr>
          <p:cNvPr id="4" name="Image 0" descr="/home/claude/deck/assets/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8615" y="438912"/>
            <a:ext cx="1234440" cy="40902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AiRCO  |  From Data to Intelligence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3383280" cy="4343400"/>
          </a:xfrm>
          <a:prstGeom prst="rect">
            <a:avLst/>
          </a:prstGeom>
          <a:solidFill>
            <a:srgbClr val="03275B"/>
          </a:solidFill>
          <a:ln w="12700">
            <a:solidFill>
              <a:srgbClr val="0327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057400"/>
            <a:ext cx="27432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your partner network to deliver AI video analytics and geospatial intelligence into smart city, PSU, defence, manufacturing and mining accounts.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EC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one‑off engagement — a lasting relationship we grow together.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66344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8680" y="5349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Demo‑ and pilot‑ready today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206240" y="1737360"/>
            <a:ext cx="3617824" cy="13136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434840" y="2138172"/>
            <a:ext cx="512064" cy="512064"/>
          </a:xfrm>
          <a:prstGeom prst="ellipse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977" y="2271309"/>
            <a:ext cx="245791" cy="24579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120640" y="1828800"/>
            <a:ext cx="2520544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&amp; reseller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AiRCO solutions made available through your partner network.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8025232" y="1737360"/>
            <a:ext cx="3617824" cy="13136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53832" y="2138172"/>
            <a:ext cx="512064" cy="512064"/>
          </a:xfrm>
          <a:prstGeom prst="ellipse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6968" y="2271309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39632" y="1828800"/>
            <a:ext cx="2520544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deal collaboration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roles between your channel and our delivery team on live deals.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206240" y="3252216"/>
            <a:ext cx="3617824" cy="13136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434840" y="3653028"/>
            <a:ext cx="512064" cy="512064"/>
          </a:xfrm>
          <a:prstGeom prst="ellipse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7977" y="3786165"/>
            <a:ext cx="245791" cy="245791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120640" y="3343656"/>
            <a:ext cx="2520544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Margins upfront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 commercial structure that works for every party.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8025232" y="3252216"/>
            <a:ext cx="3617824" cy="13136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8253832" y="3653028"/>
            <a:ext cx="512064" cy="512064"/>
          </a:xfrm>
          <a:prstGeom prst="ellipse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6968" y="3786165"/>
            <a:ext cx="245791" cy="245791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939632" y="3343656"/>
            <a:ext cx="2520544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pricing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that keeps joint bids highly competitive, without compromising quality.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4206240" y="4767072"/>
            <a:ext cx="3617824" cy="13136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4434840" y="5167884"/>
            <a:ext cx="512064" cy="512064"/>
          </a:xfrm>
          <a:prstGeom prst="ellipse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7977" y="5301021"/>
            <a:ext cx="245791" cy="245791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120640" y="4858512"/>
            <a:ext cx="2520544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 &amp; pilots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demos and pilot deployments with a dedicated team before broad rollout.</a:t>
            </a:r>
            <a:endParaRPr lang="en-US" sz="1400" dirty="0"/>
          </a:p>
        </p:txBody>
      </p:sp>
      <p:sp>
        <p:nvSpPr>
          <p:cNvPr id="31" name="Shape 22"/>
          <p:cNvSpPr/>
          <p:nvPr/>
        </p:nvSpPr>
        <p:spPr>
          <a:xfrm>
            <a:off x="8025232" y="4767072"/>
            <a:ext cx="3617824" cy="13136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8253832" y="5167884"/>
            <a:ext cx="512064" cy="512064"/>
          </a:xfrm>
          <a:prstGeom prst="ellipse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6968" y="5301021"/>
            <a:ext cx="245791" cy="245791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8939632" y="4858512"/>
            <a:ext cx="2520544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3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ownership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team for every partnership — consistent ownership, fast turnaround.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2377440" cy="78775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192024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is already telling you something.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31546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help you understand it.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3794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schedule a live demo or pilot with a dedicated AiRCO team.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77240" y="4526280"/>
            <a:ext cx="329184" cy="329184"/>
          </a:xfrm>
          <a:prstGeom prst="ellipse">
            <a:avLst/>
          </a:prstGeom>
          <a:solidFill>
            <a:srgbClr val="2EC4F1"/>
          </a:solidFill>
          <a:ln w="12700">
            <a:solidFill>
              <a:srgbClr val="2EC4F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28" y="4611868"/>
            <a:ext cx="158008" cy="1580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44988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84199 00259   ·   +91 97699 95458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77240" y="4956048"/>
            <a:ext cx="329184" cy="329184"/>
          </a:xfrm>
          <a:prstGeom prst="ellipse">
            <a:avLst/>
          </a:prstGeom>
          <a:solidFill>
            <a:srgbClr val="2EC4F1"/>
          </a:solidFill>
          <a:ln w="12700">
            <a:solidFill>
              <a:srgbClr val="2EC4F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828" y="5041636"/>
            <a:ext cx="158008" cy="1580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492861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info@the-airco.com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777240" y="5385816"/>
            <a:ext cx="329184" cy="329184"/>
          </a:xfrm>
          <a:prstGeom prst="ellipse">
            <a:avLst/>
          </a:prstGeom>
          <a:solidFill>
            <a:srgbClr val="2EC4F1"/>
          </a:solidFill>
          <a:ln w="12700">
            <a:solidFill>
              <a:srgbClr val="2EC4F1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828" y="5471404"/>
            <a:ext cx="158008" cy="15800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535838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theairco.ai   ·   the-airco.com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777240" y="5815584"/>
            <a:ext cx="329184" cy="329184"/>
          </a:xfrm>
          <a:prstGeom prst="ellipse">
            <a:avLst/>
          </a:prstGeom>
          <a:solidFill>
            <a:srgbClr val="2EC4F1"/>
          </a:solidFill>
          <a:ln w="12700">
            <a:solidFill>
              <a:srgbClr val="2EC4F1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828" y="5901172"/>
            <a:ext cx="158008" cy="15800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57881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Floor, Gala No. 5A, Raj Industrial Estate, J B Nagar, Marol, Mumbai 400059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7985455" y="6172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400" kern="0" dirty="0">
                <a:solidFill>
                  <a:srgbClr val="2EC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AiRCO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AiRCO — Company Profile</dc:title>
  <dc:subject>PptxGenJS Presentation</dc:subject>
  <dc:creator>AI Revolution Company Pvt Ltd</dc:creator>
  <cp:lastModifiedBy>AI Revolution Company Pvt Ltd</cp:lastModifiedBy>
  <cp:revision>1</cp:revision>
  <dcterms:created xsi:type="dcterms:W3CDTF">2026-09-24T07:07:38Z</dcterms:created>
  <dcterms:modified xsi:type="dcterms:W3CDTF">2026-09-24T07:07:38Z</dcterms:modified>
</cp:coreProperties>
</file>